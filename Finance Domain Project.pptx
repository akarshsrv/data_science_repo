
<file path=[Content_Types].xml><?xml version="1.0" encoding="utf-8"?>
<Types xmlns="http://schemas.openxmlformats.org/package/2006/content-types">
  <Default Extension="jpeg" ContentType="image/jpeg"/>
  <Default Extension="JPG" ContentType="image/.jpg"/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6"/>
  </p:handoutMasterIdLst>
  <p:sldIdLst>
    <p:sldId id="257" r:id="rId3"/>
    <p:sldId id="299" r:id="rId5"/>
    <p:sldId id="264" r:id="rId6"/>
    <p:sldId id="288" r:id="rId7"/>
    <p:sldId id="269" r:id="rId8"/>
    <p:sldId id="270" r:id="rId9"/>
    <p:sldId id="290" r:id="rId10"/>
    <p:sldId id="292" r:id="rId11"/>
    <p:sldId id="293" r:id="rId12"/>
    <p:sldId id="291" r:id="rId13"/>
    <p:sldId id="274" r:id="rId14"/>
    <p:sldId id="300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61422"/>
    <a:srgbClr val="4180A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420" autoAdjust="0"/>
    <p:restoredTop sz="94660"/>
  </p:normalViewPr>
  <p:slideViewPr>
    <p:cSldViewPr snapToGrid="0">
      <p:cViewPr varScale="1">
        <p:scale>
          <a:sx n="130" d="100"/>
          <a:sy n="130" d="100"/>
        </p:scale>
        <p:origin x="132" y="36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handoutMaster" Target="handoutMasters/handoutMaster1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3" Type="http://schemas.microsoft.com/office/2011/relationships/chartColorStyle" Target="colors2.xml"/><Relationship Id="rId2" Type="http://schemas.microsoft.com/office/2011/relationships/chartStyle" Target="style2.xml"/><Relationship Id="rId1" Type="http://schemas.openxmlformats.org/officeDocument/2006/relationships/package" Target="../embeddings/Workbook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类别 1</c:v>
                </c:pt>
              </c:strCache>
            </c:strRef>
          </c:tx>
          <c:spPr>
            <a:solidFill>
              <a:schemeClr val="accent1">
                <a:lumMod val="75000"/>
              </a:schemeClr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Sheet1!$B$1:$D$1</c:f>
              <c:strCache>
                <c:ptCount val="3"/>
                <c:pt idx="0">
                  <c:v>系列 1</c:v>
                </c:pt>
                <c:pt idx="1">
                  <c:v>系列 2</c:v>
                </c:pt>
                <c:pt idx="2">
                  <c:v>系列 3</c:v>
                </c:pt>
              </c:strCache>
            </c:strRef>
          </c:cat>
          <c:val>
            <c:numRef>
              <c:f>Sheet1!$B$2:$D$2</c:f>
              <c:numCache>
                <c:formatCode>General</c:formatCode>
                <c:ptCount val="3"/>
                <c:pt idx="0">
                  <c:v>4.3</c:v>
                </c:pt>
                <c:pt idx="1">
                  <c:v>2.4</c:v>
                </c:pt>
                <c:pt idx="2">
                  <c:v>2</c:v>
                </c:pt>
              </c:numCache>
            </c:numRef>
          </c:val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类别 2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Sheet1!$B$1:$D$1</c:f>
              <c:strCache>
                <c:ptCount val="3"/>
                <c:pt idx="0">
                  <c:v>系列 1</c:v>
                </c:pt>
                <c:pt idx="1">
                  <c:v>系列 2</c:v>
                </c:pt>
                <c:pt idx="2">
                  <c:v>系列 3</c:v>
                </c:pt>
              </c:strCache>
            </c:strRef>
          </c:cat>
          <c:val>
            <c:numRef>
              <c:f>Sheet1!$B$3:$D$3</c:f>
              <c:numCache>
                <c:formatCode>General</c:formatCode>
                <c:ptCount val="3"/>
                <c:pt idx="0">
                  <c:v>2.5</c:v>
                </c:pt>
                <c:pt idx="1">
                  <c:v>4.4</c:v>
                </c:pt>
                <c:pt idx="2">
                  <c:v>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957352480"/>
        <c:axId val="957359552"/>
      </c:barChart>
      <c:catAx>
        <c:axId val="957352480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txPr>
          <a:bodyPr rot="-60000000" spcFirstLastPara="1" vertOverflow="ellipsis" vert="horz" wrap="square" anchor="ctr" anchorCtr="1"/>
          <a:lstStyle/>
          <a:p>
            <a:pPr>
              <a:defRPr lang="en-US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957359552"/>
        <c:crosses val="autoZero"/>
        <c:auto val="1"/>
        <c:lblAlgn val="ctr"/>
        <c:lblOffset val="100"/>
        <c:noMultiLvlLbl val="0"/>
      </c:catAx>
      <c:valAx>
        <c:axId val="957359552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txPr>
          <a:bodyPr rot="-60000000" spcFirstLastPara="1" vertOverflow="ellipsis" vert="horz" wrap="square" anchor="ctr" anchorCtr="1"/>
          <a:lstStyle/>
          <a:p>
            <a:pPr>
              <a:defRPr lang="en-US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957352480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/>
          <c:explosion val="5"/>
          <c:dPt>
            <c:idx val="0"/>
            <c:bubble3D val="0"/>
            <c:spPr>
              <a:solidFill>
                <a:schemeClr val="accent1">
                  <a:lumMod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dk1">
                  <a:tint val="5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dk1">
                  <a:tint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explosion val="14"/>
            <c:spPr>
              <a:solidFill>
                <a:schemeClr val="dk1">
                  <a:tint val="985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delete val="1"/>
          </c:dLbls>
          <c:cat>
            <c:strRef>
              <c:f>Sheet1!$A$2:$A$5</c:f>
              <c:strCache>
                <c:ptCount val="4"/>
                <c:pt idx="0">
                  <c:v> First Quarter</c:v>
                </c:pt>
                <c:pt idx="1">
                  <c:v>Second Quarter</c:v>
                </c:pt>
                <c:pt idx="2">
                  <c:v>Third Quarter</c:v>
                </c:pt>
                <c:pt idx="3">
                  <c:v>Fourth Quarter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8.2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1195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defRPr>
          </a:pPr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20">
  <a:schemeClr val="dk1"/>
  <cs:variation>
    <a:tint val="88500"/>
  </cs:variation>
  <cs:variation>
    <a:tint val="55000"/>
  </cs:variation>
  <cs:variation>
    <a:tint val="75000"/>
  </cs:variation>
  <cs:variation>
    <a:tint val="98500"/>
  </cs:variation>
  <cs:variation>
    <a:tint val="30000"/>
  </cs:variation>
  <cs:variation>
    <a:tint val="60000"/>
  </cs:variation>
  <cs:variation>
    <a:tint val="8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20">
  <a:schemeClr val="dk1"/>
  <cs:variation>
    <a:tint val="88500"/>
  </cs:variation>
  <cs:variation>
    <a:tint val="55000"/>
  </cs:variation>
  <cs:variation>
    <a:tint val="75000"/>
  </cs:variation>
  <cs:variation>
    <a:tint val="98500"/>
  </cs:variation>
  <cs:variation>
    <a:tint val="30000"/>
  </cs:variation>
  <cs:variation>
    <a:tint val="60000"/>
  </cs:variation>
  <cs:variation>
    <a:tint val="8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6C064A-D61B-4B21-B757-51A9B82445B8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305E07-67EA-4042-A3F6-853A8AD8D20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F5ED54-37BF-4A37-8AE3-4DA4C6C1967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CEA792-08B3-4A15-9729-343F8E6FD0C5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2AEFA7-F12C-44B2-9E95-B3C34BEE955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E6FDB6-6D2B-46C1-9FA1-D82906A37C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2AEFA7-F12C-44B2-9E95-B3C34BEE955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PhAnim="0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关系图"/>
          <p:cNvPicPr>
            <a:picLocks noChangeAspect="1"/>
          </p:cNvPicPr>
          <p:nvPr/>
        </p:nvPicPr>
        <p:blipFill>
          <a:blip r:embed="rId2"/>
          <a:srcRect r="2528" b="10909"/>
          <a:stretch>
            <a:fillRect/>
          </a:stretch>
        </p:blipFill>
        <p:spPr>
          <a:xfrm>
            <a:off x="239184" y="692150"/>
            <a:ext cx="11885083" cy="61102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2117" y="549275"/>
            <a:ext cx="12192000" cy="1511300"/>
          </a:xfrm>
          <a:prstGeom prst="rect">
            <a:avLst/>
          </a:prstGeom>
          <a:gradFill rotWithShape="0">
            <a:gsLst>
              <a:gs pos="0">
                <a:schemeClr val="bg2">
                  <a:gamma/>
                  <a:tint val="0"/>
                  <a:invGamma/>
                </a:schemeClr>
              </a:gs>
              <a:gs pos="100000">
                <a:schemeClr val="bg2">
                  <a:alpha val="53999"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2051" name="Rectangle 3"/>
          <p:cNvSpPr>
            <a:spLocks noChangeArrowheads="1"/>
          </p:cNvSpPr>
          <p:nvPr>
            <p:ph type="subTitle" idx="1"/>
          </p:nvPr>
        </p:nvSpPr>
        <p:spPr>
          <a:xfrm>
            <a:off x="2544233" y="2492375"/>
            <a:ext cx="7393517" cy="1222375"/>
          </a:xfrm>
        </p:spPr>
        <p:txBody>
          <a:bodyPr anchor="ctr"/>
          <a:lstStyle>
            <a:lvl1pPr marL="0" indent="0" algn="ctr">
              <a:buFontTx/>
              <a:buNone/>
              <a:defRPr/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2056" name="Rectangle 8"/>
          <p:cNvSpPr>
            <a:spLocks noChangeArrowheads="1"/>
          </p:cNvSpPr>
          <p:nvPr>
            <p:ph type="ctrTitle"/>
          </p:nvPr>
        </p:nvSpPr>
        <p:spPr>
          <a:xfrm>
            <a:off x="1007533" y="620713"/>
            <a:ext cx="10363200" cy="1470025"/>
          </a:xfrm>
        </p:spPr>
        <p:txBody>
          <a:bodyPr/>
          <a:lstStyle>
            <a:lvl1pPr>
              <a:defRPr sz="3600"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11" name="Rectangle 4"/>
          <p:cNvSpPr>
            <a:spLocks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4D604205-67A0-46A8-ACF0-7354F2BB1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12" name="Rectangle 5"/>
          <p:cNvSpPr>
            <a:spLocks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13" name="Rectangle 6"/>
          <p:cNvSpPr>
            <a:spLocks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3E644C97-CFD8-4B1A-9809-75060EC224F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</p:bldLst>
  </p:timing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4D604205-67A0-46A8-ACF0-7354F2BB1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3E644C97-CFD8-4B1A-9809-75060EC224F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4D604205-67A0-46A8-ACF0-7354F2BB1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3E644C97-CFD8-4B1A-9809-75060EC224F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4D604205-67A0-46A8-ACF0-7354F2BB1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3E644C97-CFD8-4B1A-9809-75060EC224F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7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7" y="2505075"/>
            <a:ext cx="515831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4D604205-67A0-46A8-ACF0-7354F2BB1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3E644C97-CFD8-4B1A-9809-75060EC224F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4D604205-67A0-46A8-ACF0-7354F2BB1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3E644C97-CFD8-4B1A-9809-75060EC224F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4D604205-67A0-46A8-ACF0-7354F2BB1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3E644C97-CFD8-4B1A-9809-75060EC224F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4D604205-67A0-46A8-ACF0-7354F2BB1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3E644C97-CFD8-4B1A-9809-75060EC224F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5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4D604205-67A0-46A8-ACF0-7354F2BB1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3E644C97-CFD8-4B1A-9809-75060EC224F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4D604205-67A0-46A8-ACF0-7354F2BB1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3E644C97-CFD8-4B1A-9809-75060EC224F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4D604205-67A0-46A8-ACF0-7354F2BB1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3E644C97-CFD8-4B1A-9809-75060EC224F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2117" y="333375"/>
            <a:ext cx="12192000" cy="1009650"/>
          </a:xfrm>
          <a:prstGeom prst="rect">
            <a:avLst/>
          </a:prstGeom>
          <a:gradFill rotWithShape="0">
            <a:gsLst>
              <a:gs pos="0">
                <a:schemeClr val="bg2">
                  <a:gamma/>
                  <a:tint val="0"/>
                  <a:invGamma/>
                </a:schemeClr>
              </a:gs>
              <a:gs pos="100000">
                <a:schemeClr val="bg2">
                  <a:alpha val="53999"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  <p:pic>
        <p:nvPicPr>
          <p:cNvPr id="1027" name="Picture 3" descr="关系图"/>
          <p:cNvPicPr>
            <a:picLocks noChangeAspect="1"/>
          </p:cNvPicPr>
          <p:nvPr/>
        </p:nvPicPr>
        <p:blipFill>
          <a:blip r:embed="rId12"/>
          <a:srcRect t="1094" r="8122" b="13318"/>
          <a:stretch>
            <a:fillRect/>
          </a:stretch>
        </p:blipFill>
        <p:spPr>
          <a:xfrm>
            <a:off x="7730067" y="4438650"/>
            <a:ext cx="4453467" cy="23336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8" name="Rectangle 4"/>
          <p:cNvSpPr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9" name="Rectangle 5"/>
          <p:cNvSpPr/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30" name="Rectangle 6"/>
          <p:cNvSpPr>
            <a:spLocks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4D604205-67A0-46A8-ACF0-7354F2BB1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31" name="Rectangle 7"/>
          <p:cNvSpPr>
            <a:spLocks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zh-CN" altLang="en-US"/>
          </a:p>
        </p:txBody>
      </p:sp>
      <p:sp>
        <p:nvSpPr>
          <p:cNvPr id="1032" name="Rectangle 8"/>
          <p:cNvSpPr>
            <a:spLocks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3E644C97-CFD8-4B1A-9809-75060EC224F7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4" dur="10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6" grpId="0" bldLvl="0" animBg="1"/>
      <p:bldP spid="1028" grpId="0" bldLvl="0"/>
    </p:bldLst>
  </p:timing>
  <p:hf sldNum="0" hdr="0" ftr="0" dt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704020202020204" pitchFamily="34" charset="0"/>
          <a:ea typeface="SimSun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704020202020204" pitchFamily="34" charset="0"/>
          <a:ea typeface="SimSun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704020202020204" pitchFamily="34" charset="0"/>
          <a:ea typeface="SimSun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704020202020204" pitchFamily="34" charset="0"/>
          <a:ea typeface="SimSun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704020202020204" pitchFamily="34" charset="0"/>
          <a:ea typeface="SimSun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704020202020204" pitchFamily="34" charset="0"/>
          <a:ea typeface="SimSun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704020202020204" pitchFamily="34" charset="0"/>
          <a:ea typeface="SimSun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704020202020204" pitchFamily="34" charset="0"/>
          <a:ea typeface="SimSun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7.xml"/><Relationship Id="rId2" Type="http://schemas.openxmlformats.org/officeDocument/2006/relationships/tags" Target="../tags/tag1.xml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9.png"/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tags" Target="../tags/tag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1" Type="http://schemas.openxmlformats.org/officeDocument/2006/relationships/chart" Target="../charts/char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chart" Target="../charts/chart2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16.png"/><Relationship Id="rId8" Type="http://schemas.openxmlformats.org/officeDocument/2006/relationships/image" Target="../media/image15.png"/><Relationship Id="rId7" Type="http://schemas.openxmlformats.org/officeDocument/2006/relationships/image" Target="../media/image14.png"/><Relationship Id="rId6" Type="http://schemas.openxmlformats.org/officeDocument/2006/relationships/image" Target="../media/image13.png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image" Target="../media/image12.jpeg"/><Relationship Id="rId10" Type="http://schemas.openxmlformats.org/officeDocument/2006/relationships/slideLayout" Target="../slideLayouts/slideLayout7.xml"/><Relationship Id="rId1" Type="http://schemas.openxmlformats.org/officeDocument/2006/relationships/image" Target="../media/image11.jpe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image" Target="../media/image17.jpe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20.png"/><Relationship Id="rId8" Type="http://schemas.openxmlformats.org/officeDocument/2006/relationships/image" Target="../media/image19.png"/><Relationship Id="rId7" Type="http://schemas.openxmlformats.org/officeDocument/2006/relationships/tags" Target="../tags/tag13.xml"/><Relationship Id="rId6" Type="http://schemas.openxmlformats.org/officeDocument/2006/relationships/tags" Target="../tags/tag12.xml"/><Relationship Id="rId5" Type="http://schemas.openxmlformats.org/officeDocument/2006/relationships/tags" Target="../tags/tag11.xml"/><Relationship Id="rId4" Type="http://schemas.openxmlformats.org/officeDocument/2006/relationships/tags" Target="../tags/tag10.xml"/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21.png"/><Relationship Id="rId1" Type="http://schemas.openxmlformats.org/officeDocument/2006/relationships/image" Target="../media/image18.jpe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7.xml"/><Relationship Id="rId2" Type="http://schemas.openxmlformats.org/officeDocument/2006/relationships/tags" Target="../tags/tag14.xml"/><Relationship Id="rId1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14034"/>
          <p:cNvPicPr>
            <a:picLocks noChangeAspect="1"/>
          </p:cNvPicPr>
          <p:nvPr/>
        </p:nvPicPr>
        <p:blipFill>
          <a:blip r:embed="rId1"/>
          <a:srcRect t="816"/>
          <a:stretch>
            <a:fillRect/>
          </a:stretch>
        </p:blipFill>
        <p:spPr>
          <a:xfrm>
            <a:off x="0" y="-11430"/>
            <a:ext cx="12192000" cy="6869430"/>
          </a:xfrm>
          <a:prstGeom prst="rect">
            <a:avLst/>
          </a:prstGeom>
        </p:spPr>
      </p:pic>
      <p:sp>
        <p:nvSpPr>
          <p:cNvPr id="25" name="任意多边形 107"/>
          <p:cNvSpPr/>
          <p:nvPr/>
        </p:nvSpPr>
        <p:spPr>
          <a:xfrm>
            <a:off x="0" y="0"/>
            <a:ext cx="9769475" cy="6858000"/>
          </a:xfrm>
          <a:custGeom>
            <a:avLst/>
            <a:gdLst>
              <a:gd name="connsiteX0" fmla="*/ 0 w 7899400"/>
              <a:gd name="connsiteY0" fmla="*/ 0 h 6858000"/>
              <a:gd name="connsiteX1" fmla="*/ 3409947 w 7899400"/>
              <a:gd name="connsiteY1" fmla="*/ 0 h 6858000"/>
              <a:gd name="connsiteX2" fmla="*/ 7899400 w 7899400"/>
              <a:gd name="connsiteY2" fmla="*/ 6858000 h 6858000"/>
              <a:gd name="connsiteX3" fmla="*/ 0 w 7899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899400" h="6858000">
                <a:moveTo>
                  <a:pt x="0" y="0"/>
                </a:moveTo>
                <a:lnTo>
                  <a:pt x="3409947" y="0"/>
                </a:lnTo>
                <a:lnTo>
                  <a:pt x="7899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>
              <a:lumMod val="75000"/>
              <a:alpha val="8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1E3A93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72" name="文本框 71"/>
          <p:cNvSpPr txBox="1"/>
          <p:nvPr/>
        </p:nvSpPr>
        <p:spPr>
          <a:xfrm>
            <a:off x="695325" y="2719705"/>
            <a:ext cx="6072505" cy="31381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6600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Data Science Project</a:t>
            </a:r>
            <a:endParaRPr lang="en-US" altLang="zh-CN" sz="6600" b="1">
              <a:solidFill>
                <a:schemeClr val="bg1"/>
              </a:solidFill>
            </a:endParaRPr>
          </a:p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6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82" name="平行四边形 81"/>
          <p:cNvSpPr/>
          <p:nvPr/>
        </p:nvSpPr>
        <p:spPr>
          <a:xfrm flipH="1">
            <a:off x="6654800" y="2992755"/>
            <a:ext cx="3364230" cy="3865245"/>
          </a:xfrm>
          <a:prstGeom prst="parallelogram">
            <a:avLst>
              <a:gd name="adj" fmla="val 91551"/>
            </a:avLst>
          </a:prstGeom>
          <a:solidFill>
            <a:schemeClr val="bg1">
              <a:alpha val="7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83" name="PA_文本框 10"/>
          <p:cNvSpPr txBox="1"/>
          <p:nvPr>
            <p:custDataLst>
              <p:tags r:id="rId2"/>
            </p:custDataLst>
          </p:nvPr>
        </p:nvSpPr>
        <p:spPr>
          <a:xfrm>
            <a:off x="695325" y="4853305"/>
            <a:ext cx="6386830" cy="583565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chemeClr val="bg1"/>
                </a:solidFill>
                <a:latin typeface="Century Gothic" panose="020B0502020202020204" pitchFamily="34" charset="0"/>
                <a:ea typeface="Microsoft YaHei" panose="020B0503020204020204" pitchFamily="34" charset="-122"/>
              </a:rPr>
              <a:t>           ~ Finance Domain</a:t>
            </a:r>
            <a:endParaRPr lang="en-US" altLang="zh-CN" sz="3200" dirty="0">
              <a:solidFill>
                <a:schemeClr val="bg1"/>
              </a:solidFill>
              <a:latin typeface="Century Gothic" panose="020B0502020202020204" pitchFamily="34" charset="0"/>
              <a:ea typeface="Microsoft YaHei" panose="020B0503020204020204" pitchFamily="34" charset="-122"/>
            </a:endParaRPr>
          </a:p>
        </p:txBody>
      </p:sp>
      <p:cxnSp>
        <p:nvCxnSpPr>
          <p:cNvPr id="17" name="直接连接符 16"/>
          <p:cNvCxnSpPr/>
          <p:nvPr/>
        </p:nvCxnSpPr>
        <p:spPr>
          <a:xfrm>
            <a:off x="774700" y="6223000"/>
            <a:ext cx="508000" cy="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ṡľïḑè"/>
          <p:cNvSpPr txBox="1"/>
          <p:nvPr/>
        </p:nvSpPr>
        <p:spPr bwMode="auto">
          <a:xfrm>
            <a:off x="3510280" y="1177290"/>
            <a:ext cx="8009890" cy="5361940"/>
          </a:xfrm>
          <a:prstGeom prst="rect">
            <a:avLst/>
          </a:prstGeom>
          <a:noFill/>
        </p:spPr>
        <p:txBody>
          <a:bodyPr wrap="square" tIns="0" anchor="t">
            <a:noAutofit/>
          </a:bodyPr>
          <a:lstStyle>
            <a:defPPr>
              <a:defRPr lang="zh-CN"/>
            </a:defPPr>
            <a:lvl1pPr>
              <a:defRPr sz="1600" b="1">
                <a:latin typeface="Arial" panose="020B0704020202020204" pitchFamily="34" charset="0"/>
                <a:ea typeface="Microsoft YaHei" panose="020B0503020204020204" pitchFamily="34" charset="-122"/>
                <a:cs typeface="+mn-ea"/>
              </a:defRPr>
            </a:lvl1pPr>
            <a:lvl2pPr marL="742950" indent="-285750">
              <a:defRPr sz="3200" b="1">
                <a:solidFill>
                  <a:srgbClr val="4D4D4D"/>
                </a:solidFill>
                <a:latin typeface="Arial" panose="020B0704020202020204" pitchFamily="34" charset="0"/>
                <a:ea typeface="黑体" panose="02010609060101010101" charset="-122"/>
              </a:defRPr>
            </a:lvl2pPr>
            <a:lvl3pPr marL="1143000" indent="-228600">
              <a:defRPr sz="3200" b="1">
                <a:solidFill>
                  <a:srgbClr val="4D4D4D"/>
                </a:solidFill>
                <a:latin typeface="Arial" panose="020B0704020202020204" pitchFamily="34" charset="0"/>
                <a:ea typeface="黑体" panose="02010609060101010101" charset="-122"/>
              </a:defRPr>
            </a:lvl3pPr>
            <a:lvl4pPr marL="1600200" indent="-228600">
              <a:defRPr sz="3200" b="1">
                <a:solidFill>
                  <a:srgbClr val="4D4D4D"/>
                </a:solidFill>
                <a:latin typeface="Arial" panose="020B0704020202020204" pitchFamily="34" charset="0"/>
                <a:ea typeface="黑体" panose="02010609060101010101" charset="-122"/>
              </a:defRPr>
            </a:lvl4pPr>
            <a:lvl5pPr marL="2057400" indent="-228600">
              <a:defRPr sz="3200" b="1">
                <a:solidFill>
                  <a:srgbClr val="4D4D4D"/>
                </a:solidFill>
                <a:latin typeface="Arial" panose="020B0704020202020204" pitchFamily="34" charset="0"/>
                <a:ea typeface="黑体" panose="0201060906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4D4D4D"/>
                </a:solidFill>
                <a:latin typeface="Arial" panose="020B0704020202020204" pitchFamily="34" charset="0"/>
                <a:ea typeface="黑体" panose="0201060906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4D4D4D"/>
                </a:solidFill>
                <a:latin typeface="Arial" panose="020B0704020202020204" pitchFamily="34" charset="0"/>
                <a:ea typeface="黑体" panose="0201060906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4D4D4D"/>
                </a:solidFill>
                <a:latin typeface="Arial" panose="020B0704020202020204" pitchFamily="34" charset="0"/>
                <a:ea typeface="黑体" panose="0201060906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4D4D4D"/>
                </a:solidFill>
                <a:latin typeface="Arial" panose="020B0704020202020204" pitchFamily="34" charset="0"/>
                <a:ea typeface="黑体" panose="02010609060101010101" charset="-122"/>
              </a:defRPr>
            </a:lvl9pPr>
          </a:lstStyle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2400" b="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sym typeface="+mn-lt"/>
              </a:rPr>
              <a:t>Table of Contents</a:t>
            </a:r>
            <a:endParaRPr lang="en-US" altLang="zh-CN" sz="2400" b="0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2400" b="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sym typeface="+mn-lt"/>
              </a:rPr>
              <a:t>Introduction</a:t>
            </a:r>
            <a:endParaRPr lang="en-US" altLang="zh-CN" sz="2400" b="0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2400" b="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sym typeface="+mn-lt"/>
              </a:rPr>
              <a:t>Project Roadmap</a:t>
            </a:r>
            <a:endParaRPr lang="en-US" altLang="zh-CN" sz="2400" b="0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dirty="0">
                <a:latin typeface="微软雅黑 Light" panose="020B0502040204020203" pitchFamily="34" charset="-122"/>
                <a:ea typeface="微软雅黑 Light" panose="020B0502040204020203" pitchFamily="34" charset="-122"/>
                <a:sym typeface="+mn-ea"/>
              </a:rPr>
              <a:t>Data Preprocessing</a:t>
            </a:r>
            <a:endParaRPr lang="zh-CN" altLang="en-US" sz="24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2400" dirty="0">
                <a:latin typeface="微软雅黑 Light" panose="020B0502040204020203" pitchFamily="34" charset="-122"/>
                <a:ea typeface="微软雅黑 Light" panose="020B0502040204020203" pitchFamily="34" charset="-122"/>
                <a:sym typeface="+mn-ea"/>
              </a:rPr>
              <a:t>EDA - Exploratory Data Analysis</a:t>
            </a:r>
            <a:endParaRPr lang="en-US" altLang="zh-CN" sz="24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微软雅黑 Light" panose="020B0502040204020203" pitchFamily="34" charset="-122"/>
                <a:ea typeface="微软雅黑 Light" panose="020B0502040204020203" pitchFamily="34" charset="-122"/>
                <a:sym typeface="+mn-ea"/>
              </a:rPr>
              <a:t>EDA Data Visulisation - Transformed Data</a:t>
            </a:r>
            <a:endParaRPr lang="en-US" sz="24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indent="0">
              <a:lnSpc>
                <a:spcPct val="150000"/>
              </a:lnSpc>
              <a:buFont typeface="+mj-lt"/>
              <a:buNone/>
            </a:pPr>
            <a:r>
              <a:rPr lang="en-US" altLang="zh-CN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7. Statistical Representation</a:t>
            </a:r>
            <a:endParaRPr lang="en-US" altLang="zh-CN" sz="24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indent="0">
              <a:lnSpc>
                <a:spcPct val="150000"/>
              </a:lnSpc>
              <a:buFont typeface="+mj-lt"/>
              <a:buNone/>
            </a:pPr>
            <a:r>
              <a:rPr lang="en-US" altLang="zh-CN" sz="2400" b="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sym typeface="+mn-lt"/>
              </a:rPr>
              <a:t>8. MI Models</a:t>
            </a:r>
            <a:endParaRPr lang="en-US" altLang="zh-CN" sz="2400" b="0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sym typeface="+mn-lt"/>
            </a:endParaRPr>
          </a:p>
          <a:p>
            <a:pPr indent="0">
              <a:lnSpc>
                <a:spcPct val="150000"/>
              </a:lnSpc>
              <a:buFont typeface="+mj-lt"/>
              <a:buNone/>
            </a:pPr>
            <a:r>
              <a:rPr lang="en-US" altLang="zh-CN" sz="2400" b="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sym typeface="+mn-lt"/>
              </a:rPr>
              <a:t>9. Model Evaluations</a:t>
            </a:r>
            <a:endParaRPr lang="en-US" altLang="zh-CN" sz="2400" b="0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sym typeface="+mn-lt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3380411" y="1251210"/>
            <a:ext cx="0" cy="5118735"/>
          </a:xfrm>
          <a:prstGeom prst="line">
            <a:avLst/>
          </a:prstGeom>
          <a:solidFill>
            <a:srgbClr val="FFCC00"/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7" name="išľïḋé"/>
          <p:cNvSpPr txBox="1"/>
          <p:nvPr/>
        </p:nvSpPr>
        <p:spPr>
          <a:xfrm>
            <a:off x="756647" y="1177568"/>
            <a:ext cx="2623091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tr-TR" sz="2800" b="1" dirty="0">
                <a:solidFill>
                  <a:schemeClr val="accent1"/>
                </a:solidFill>
                <a:cs typeface="+mn-ea"/>
                <a:sym typeface="+mn-lt"/>
              </a:rPr>
              <a:t>CONTENTS</a:t>
            </a:r>
            <a:endParaRPr lang="tr-TR" sz="2800" b="1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4" name="poetry_91022"/>
          <p:cNvSpPr>
            <a:spLocks noChangeAspect="1"/>
          </p:cNvSpPr>
          <p:nvPr/>
        </p:nvSpPr>
        <p:spPr bwMode="auto">
          <a:xfrm>
            <a:off x="2379533" y="4867348"/>
            <a:ext cx="870506" cy="915667"/>
          </a:xfrm>
          <a:custGeom>
            <a:avLst/>
            <a:gdLst>
              <a:gd name="T0" fmla="*/ 3353 w 5127"/>
              <a:gd name="T1" fmla="*/ 1728 h 5401"/>
              <a:gd name="T2" fmla="*/ 2183 w 5127"/>
              <a:gd name="T3" fmla="*/ 1608 h 5401"/>
              <a:gd name="T4" fmla="*/ 3353 w 5127"/>
              <a:gd name="T5" fmla="*/ 1488 h 5401"/>
              <a:gd name="T6" fmla="*/ 3103 w 5127"/>
              <a:gd name="T7" fmla="*/ 2231 h 5401"/>
              <a:gd name="T8" fmla="*/ 3103 w 5127"/>
              <a:gd name="T9" fmla="*/ 1991 h 5401"/>
              <a:gd name="T10" fmla="*/ 2432 w 5127"/>
              <a:gd name="T11" fmla="*/ 2111 h 5401"/>
              <a:gd name="T12" fmla="*/ 3103 w 5127"/>
              <a:gd name="T13" fmla="*/ 2231 h 5401"/>
              <a:gd name="T14" fmla="*/ 3353 w 5127"/>
              <a:gd name="T15" fmla="*/ 2648 h 5401"/>
              <a:gd name="T16" fmla="*/ 2183 w 5127"/>
              <a:gd name="T17" fmla="*/ 2768 h 5401"/>
              <a:gd name="T18" fmla="*/ 3353 w 5127"/>
              <a:gd name="T19" fmla="*/ 2888 h 5401"/>
              <a:gd name="T20" fmla="*/ 2552 w 5127"/>
              <a:gd name="T21" fmla="*/ 3151 h 5401"/>
              <a:gd name="T22" fmla="*/ 2552 w 5127"/>
              <a:gd name="T23" fmla="*/ 3391 h 5401"/>
              <a:gd name="T24" fmla="*/ 3223 w 5127"/>
              <a:gd name="T25" fmla="*/ 3271 h 5401"/>
              <a:gd name="T26" fmla="*/ 2552 w 5127"/>
              <a:gd name="T27" fmla="*/ 3151 h 5401"/>
              <a:gd name="T28" fmla="*/ 4448 w 5127"/>
              <a:gd name="T29" fmla="*/ 1442 h 5401"/>
              <a:gd name="T30" fmla="*/ 4688 w 5127"/>
              <a:gd name="T31" fmla="*/ 1442 h 5401"/>
              <a:gd name="T32" fmla="*/ 3988 w 5127"/>
              <a:gd name="T33" fmla="*/ 0 h 5401"/>
              <a:gd name="T34" fmla="*/ 0 w 5127"/>
              <a:gd name="T35" fmla="*/ 604 h 5401"/>
              <a:gd name="T36" fmla="*/ 120 w 5127"/>
              <a:gd name="T37" fmla="*/ 1792 h 5401"/>
              <a:gd name="T38" fmla="*/ 686 w 5127"/>
              <a:gd name="T39" fmla="*/ 1672 h 5401"/>
              <a:gd name="T40" fmla="*/ 240 w 5127"/>
              <a:gd name="T41" fmla="*/ 1552 h 5401"/>
              <a:gd name="T42" fmla="*/ 604 w 5127"/>
              <a:gd name="T43" fmla="*/ 240 h 5401"/>
              <a:gd name="T44" fmla="*/ 968 w 5127"/>
              <a:gd name="T45" fmla="*/ 4179 h 5401"/>
              <a:gd name="T46" fmla="*/ 3904 w 5127"/>
              <a:gd name="T47" fmla="*/ 4879 h 5401"/>
              <a:gd name="T48" fmla="*/ 3904 w 5127"/>
              <a:gd name="T49" fmla="*/ 4639 h 5401"/>
              <a:gd name="T50" fmla="*/ 1208 w 5127"/>
              <a:gd name="T51" fmla="*/ 4179 h 5401"/>
              <a:gd name="T52" fmla="*/ 1086 w 5127"/>
              <a:gd name="T53" fmla="*/ 240 h 5401"/>
              <a:gd name="T54" fmla="*/ 4448 w 5127"/>
              <a:gd name="T55" fmla="*/ 700 h 5401"/>
              <a:gd name="T56" fmla="*/ 4568 w 5127"/>
              <a:gd name="T57" fmla="*/ 2000 h 5401"/>
              <a:gd name="T58" fmla="*/ 4568 w 5127"/>
              <a:gd name="T59" fmla="*/ 2240 h 5401"/>
              <a:gd name="T60" fmla="*/ 4887 w 5127"/>
              <a:gd name="T61" fmla="*/ 2340 h 5401"/>
              <a:gd name="T62" fmla="*/ 5007 w 5127"/>
              <a:gd name="T63" fmla="*/ 3838 h 5401"/>
              <a:gd name="T64" fmla="*/ 5127 w 5127"/>
              <a:gd name="T65" fmla="*/ 2340 h 5401"/>
              <a:gd name="T66" fmla="*/ 4568 w 5127"/>
              <a:gd name="T67" fmla="*/ 5139 h 5401"/>
              <a:gd name="T68" fmla="*/ 4448 w 5127"/>
              <a:gd name="T69" fmla="*/ 5281 h 5401"/>
              <a:gd name="T70" fmla="*/ 4688 w 5127"/>
              <a:gd name="T71" fmla="*/ 5281 h 5401"/>
              <a:gd name="T72" fmla="*/ 4568 w 5127"/>
              <a:gd name="T73" fmla="*/ 5139 h 5401"/>
              <a:gd name="T74" fmla="*/ 4448 w 5127"/>
              <a:gd name="T75" fmla="*/ 2559 h 5401"/>
              <a:gd name="T76" fmla="*/ 4568 w 5127"/>
              <a:gd name="T77" fmla="*/ 4974 h 5401"/>
              <a:gd name="T78" fmla="*/ 4688 w 5127"/>
              <a:gd name="T79" fmla="*/ 2559 h 54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5127" h="5401">
                <a:moveTo>
                  <a:pt x="3473" y="1608"/>
                </a:moveTo>
                <a:cubicBezTo>
                  <a:pt x="3473" y="1674"/>
                  <a:pt x="3419" y="1728"/>
                  <a:pt x="3353" y="1728"/>
                </a:cubicBezTo>
                <a:lnTo>
                  <a:pt x="2303" y="1728"/>
                </a:lnTo>
                <a:cubicBezTo>
                  <a:pt x="2236" y="1728"/>
                  <a:pt x="2183" y="1674"/>
                  <a:pt x="2183" y="1608"/>
                </a:cubicBezTo>
                <a:cubicBezTo>
                  <a:pt x="2183" y="1542"/>
                  <a:pt x="2236" y="1488"/>
                  <a:pt x="2303" y="1488"/>
                </a:cubicBezTo>
                <a:lnTo>
                  <a:pt x="3353" y="1488"/>
                </a:lnTo>
                <a:cubicBezTo>
                  <a:pt x="3419" y="1488"/>
                  <a:pt x="3473" y="1542"/>
                  <a:pt x="3473" y="1608"/>
                </a:cubicBezTo>
                <a:close/>
                <a:moveTo>
                  <a:pt x="3103" y="2231"/>
                </a:moveTo>
                <a:cubicBezTo>
                  <a:pt x="3170" y="2231"/>
                  <a:pt x="3223" y="2178"/>
                  <a:pt x="3223" y="2111"/>
                </a:cubicBezTo>
                <a:cubicBezTo>
                  <a:pt x="3223" y="2045"/>
                  <a:pt x="3170" y="1991"/>
                  <a:pt x="3103" y="1991"/>
                </a:cubicBezTo>
                <a:lnTo>
                  <a:pt x="2552" y="1991"/>
                </a:lnTo>
                <a:cubicBezTo>
                  <a:pt x="2486" y="1991"/>
                  <a:pt x="2432" y="2045"/>
                  <a:pt x="2432" y="2111"/>
                </a:cubicBezTo>
                <a:cubicBezTo>
                  <a:pt x="2432" y="2178"/>
                  <a:pt x="2486" y="2231"/>
                  <a:pt x="2552" y="2231"/>
                </a:cubicBezTo>
                <a:lnTo>
                  <a:pt x="3103" y="2231"/>
                </a:lnTo>
                <a:close/>
                <a:moveTo>
                  <a:pt x="3473" y="2768"/>
                </a:moveTo>
                <a:cubicBezTo>
                  <a:pt x="3473" y="2701"/>
                  <a:pt x="3419" y="2648"/>
                  <a:pt x="3353" y="2648"/>
                </a:cubicBezTo>
                <a:lnTo>
                  <a:pt x="2303" y="2648"/>
                </a:lnTo>
                <a:cubicBezTo>
                  <a:pt x="2236" y="2648"/>
                  <a:pt x="2183" y="2701"/>
                  <a:pt x="2183" y="2768"/>
                </a:cubicBezTo>
                <a:cubicBezTo>
                  <a:pt x="2183" y="2834"/>
                  <a:pt x="2236" y="2888"/>
                  <a:pt x="2303" y="2888"/>
                </a:cubicBezTo>
                <a:lnTo>
                  <a:pt x="3353" y="2888"/>
                </a:lnTo>
                <a:cubicBezTo>
                  <a:pt x="3419" y="2888"/>
                  <a:pt x="3473" y="2834"/>
                  <a:pt x="3473" y="2768"/>
                </a:cubicBezTo>
                <a:close/>
                <a:moveTo>
                  <a:pt x="2552" y="3151"/>
                </a:moveTo>
                <a:cubicBezTo>
                  <a:pt x="2486" y="3151"/>
                  <a:pt x="2432" y="3205"/>
                  <a:pt x="2432" y="3271"/>
                </a:cubicBezTo>
                <a:cubicBezTo>
                  <a:pt x="2432" y="3338"/>
                  <a:pt x="2486" y="3391"/>
                  <a:pt x="2552" y="3391"/>
                </a:cubicBezTo>
                <a:lnTo>
                  <a:pt x="3103" y="3391"/>
                </a:lnTo>
                <a:cubicBezTo>
                  <a:pt x="3170" y="3391"/>
                  <a:pt x="3223" y="3338"/>
                  <a:pt x="3223" y="3271"/>
                </a:cubicBezTo>
                <a:cubicBezTo>
                  <a:pt x="3223" y="3205"/>
                  <a:pt x="3170" y="3151"/>
                  <a:pt x="3103" y="3151"/>
                </a:cubicBezTo>
                <a:lnTo>
                  <a:pt x="2552" y="3151"/>
                </a:lnTo>
                <a:close/>
                <a:moveTo>
                  <a:pt x="4448" y="700"/>
                </a:moveTo>
                <a:lnTo>
                  <a:pt x="4448" y="1442"/>
                </a:lnTo>
                <a:cubicBezTo>
                  <a:pt x="4448" y="1509"/>
                  <a:pt x="4501" y="1562"/>
                  <a:pt x="4568" y="1562"/>
                </a:cubicBezTo>
                <a:cubicBezTo>
                  <a:pt x="4634" y="1562"/>
                  <a:pt x="4688" y="1509"/>
                  <a:pt x="4688" y="1442"/>
                </a:cubicBezTo>
                <a:lnTo>
                  <a:pt x="4688" y="700"/>
                </a:lnTo>
                <a:cubicBezTo>
                  <a:pt x="4688" y="314"/>
                  <a:pt x="4374" y="0"/>
                  <a:pt x="3988" y="0"/>
                </a:cubicBezTo>
                <a:lnTo>
                  <a:pt x="604" y="0"/>
                </a:lnTo>
                <a:cubicBezTo>
                  <a:pt x="271" y="0"/>
                  <a:pt x="0" y="271"/>
                  <a:pt x="0" y="604"/>
                </a:cubicBezTo>
                <a:lnTo>
                  <a:pt x="0" y="1672"/>
                </a:lnTo>
                <a:cubicBezTo>
                  <a:pt x="0" y="1738"/>
                  <a:pt x="53" y="1792"/>
                  <a:pt x="120" y="1792"/>
                </a:cubicBezTo>
                <a:lnTo>
                  <a:pt x="566" y="1792"/>
                </a:lnTo>
                <a:cubicBezTo>
                  <a:pt x="632" y="1792"/>
                  <a:pt x="686" y="1738"/>
                  <a:pt x="686" y="1672"/>
                </a:cubicBezTo>
                <a:cubicBezTo>
                  <a:pt x="686" y="1606"/>
                  <a:pt x="632" y="1552"/>
                  <a:pt x="566" y="1552"/>
                </a:cubicBezTo>
                <a:lnTo>
                  <a:pt x="240" y="1552"/>
                </a:lnTo>
                <a:lnTo>
                  <a:pt x="240" y="604"/>
                </a:lnTo>
                <a:cubicBezTo>
                  <a:pt x="240" y="403"/>
                  <a:pt x="403" y="240"/>
                  <a:pt x="604" y="240"/>
                </a:cubicBezTo>
                <a:cubicBezTo>
                  <a:pt x="805" y="240"/>
                  <a:pt x="968" y="403"/>
                  <a:pt x="968" y="604"/>
                </a:cubicBezTo>
                <a:lnTo>
                  <a:pt x="968" y="4179"/>
                </a:lnTo>
                <a:cubicBezTo>
                  <a:pt x="968" y="4565"/>
                  <a:pt x="1282" y="4879"/>
                  <a:pt x="1668" y="4879"/>
                </a:cubicBezTo>
                <a:lnTo>
                  <a:pt x="3904" y="4879"/>
                </a:lnTo>
                <a:cubicBezTo>
                  <a:pt x="3970" y="4879"/>
                  <a:pt x="4024" y="4825"/>
                  <a:pt x="4024" y="4759"/>
                </a:cubicBezTo>
                <a:cubicBezTo>
                  <a:pt x="4024" y="4693"/>
                  <a:pt x="3970" y="4639"/>
                  <a:pt x="3904" y="4639"/>
                </a:cubicBezTo>
                <a:lnTo>
                  <a:pt x="1668" y="4639"/>
                </a:lnTo>
                <a:cubicBezTo>
                  <a:pt x="1415" y="4639"/>
                  <a:pt x="1208" y="4433"/>
                  <a:pt x="1208" y="4179"/>
                </a:cubicBezTo>
                <a:lnTo>
                  <a:pt x="1208" y="604"/>
                </a:lnTo>
                <a:cubicBezTo>
                  <a:pt x="1208" y="468"/>
                  <a:pt x="1163" y="341"/>
                  <a:pt x="1086" y="240"/>
                </a:cubicBezTo>
                <a:lnTo>
                  <a:pt x="3988" y="240"/>
                </a:lnTo>
                <a:cubicBezTo>
                  <a:pt x="4241" y="240"/>
                  <a:pt x="4448" y="446"/>
                  <a:pt x="4448" y="700"/>
                </a:cubicBezTo>
                <a:close/>
                <a:moveTo>
                  <a:pt x="4787" y="2000"/>
                </a:moveTo>
                <a:lnTo>
                  <a:pt x="4568" y="2000"/>
                </a:lnTo>
                <a:cubicBezTo>
                  <a:pt x="4501" y="2000"/>
                  <a:pt x="4448" y="2054"/>
                  <a:pt x="4448" y="2120"/>
                </a:cubicBezTo>
                <a:cubicBezTo>
                  <a:pt x="4448" y="2187"/>
                  <a:pt x="4501" y="2240"/>
                  <a:pt x="4568" y="2240"/>
                </a:cubicBezTo>
                <a:lnTo>
                  <a:pt x="4787" y="2240"/>
                </a:lnTo>
                <a:cubicBezTo>
                  <a:pt x="4842" y="2240"/>
                  <a:pt x="4887" y="2285"/>
                  <a:pt x="4887" y="2340"/>
                </a:cubicBezTo>
                <a:lnTo>
                  <a:pt x="4887" y="3718"/>
                </a:lnTo>
                <a:cubicBezTo>
                  <a:pt x="4887" y="3785"/>
                  <a:pt x="4941" y="3838"/>
                  <a:pt x="5007" y="3838"/>
                </a:cubicBezTo>
                <a:cubicBezTo>
                  <a:pt x="5073" y="3838"/>
                  <a:pt x="5127" y="3785"/>
                  <a:pt x="5127" y="3718"/>
                </a:cubicBezTo>
                <a:lnTo>
                  <a:pt x="5127" y="2340"/>
                </a:lnTo>
                <a:cubicBezTo>
                  <a:pt x="5127" y="2153"/>
                  <a:pt x="4975" y="2000"/>
                  <a:pt x="4787" y="2000"/>
                </a:cubicBezTo>
                <a:close/>
                <a:moveTo>
                  <a:pt x="4568" y="5139"/>
                </a:moveTo>
                <a:cubicBezTo>
                  <a:pt x="4501" y="5139"/>
                  <a:pt x="4448" y="5193"/>
                  <a:pt x="4448" y="5259"/>
                </a:cubicBezTo>
                <a:lnTo>
                  <a:pt x="4448" y="5281"/>
                </a:lnTo>
                <a:cubicBezTo>
                  <a:pt x="4448" y="5347"/>
                  <a:pt x="4501" y="5401"/>
                  <a:pt x="4568" y="5401"/>
                </a:cubicBezTo>
                <a:cubicBezTo>
                  <a:pt x="4634" y="5401"/>
                  <a:pt x="4688" y="5347"/>
                  <a:pt x="4688" y="5281"/>
                </a:cubicBezTo>
                <a:lnTo>
                  <a:pt x="4688" y="5259"/>
                </a:lnTo>
                <a:cubicBezTo>
                  <a:pt x="4688" y="5193"/>
                  <a:pt x="4634" y="5139"/>
                  <a:pt x="4568" y="5139"/>
                </a:cubicBezTo>
                <a:close/>
                <a:moveTo>
                  <a:pt x="4568" y="2439"/>
                </a:moveTo>
                <a:cubicBezTo>
                  <a:pt x="4501" y="2439"/>
                  <a:pt x="4448" y="2492"/>
                  <a:pt x="4448" y="2559"/>
                </a:cubicBezTo>
                <a:lnTo>
                  <a:pt x="4448" y="4854"/>
                </a:lnTo>
                <a:cubicBezTo>
                  <a:pt x="4448" y="4920"/>
                  <a:pt x="4501" y="4974"/>
                  <a:pt x="4568" y="4974"/>
                </a:cubicBezTo>
                <a:cubicBezTo>
                  <a:pt x="4634" y="4974"/>
                  <a:pt x="4688" y="4920"/>
                  <a:pt x="4688" y="4854"/>
                </a:cubicBezTo>
                <a:lnTo>
                  <a:pt x="4688" y="2559"/>
                </a:lnTo>
                <a:cubicBezTo>
                  <a:pt x="4688" y="2492"/>
                  <a:pt x="4634" y="2439"/>
                  <a:pt x="4568" y="2439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/>
          <a:lstStyle/>
          <a:p>
            <a:endParaRPr lang="zh-CN" altLang="en-US">
              <a:solidFill>
                <a:schemeClr val="accent1"/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746088" y="475991"/>
            <a:ext cx="2280920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br>
              <a:rPr lang="zh-CN" altLang="en-US" sz="20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</a:br>
            <a:r>
              <a:rPr lang="en-US" altLang="zh-CN" sz="28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Introduction</a:t>
            </a:r>
            <a:endParaRPr lang="en-US" altLang="zh-CN" sz="28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6089650" y="1861185"/>
            <a:ext cx="5059680" cy="37191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289435" y="545974"/>
            <a:ext cx="340519" cy="260145"/>
          </a:xfrm>
          <a:prstGeom prst="rect">
            <a:avLst/>
          </a:prstGeom>
          <a:solidFill>
            <a:schemeClr val="accent1">
              <a:lumMod val="75000"/>
            </a:schemeClr>
          </a:solidFill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7" name="TextBox 9"/>
          <p:cNvSpPr txBox="1"/>
          <p:nvPr/>
        </p:nvSpPr>
        <p:spPr>
          <a:xfrm>
            <a:off x="746088" y="1382750"/>
            <a:ext cx="4102100" cy="4781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1400" b="1" dirty="0">
                <a:solidFill>
                  <a:schemeClr val="accent1"/>
                </a:solidFill>
                <a:latin typeface="Century Gothic" panose="020B0502020202020204" pitchFamily="34" charset="0"/>
                <a:ea typeface="Montserrat" panose="00000500000000000000" charset="0"/>
                <a:cs typeface="Montserrat" panose="00000500000000000000" charset="0"/>
              </a:rPr>
              <a:t>Objective:</a:t>
            </a:r>
            <a:r>
              <a:rPr lang="en-US" sz="1400" dirty="0">
                <a:solidFill>
                  <a:schemeClr val="accent1"/>
                </a:solidFill>
                <a:latin typeface="Century Gothic" panose="020B0502020202020204" pitchFamily="34" charset="0"/>
                <a:ea typeface="Montserrat" panose="00000500000000000000" charset="0"/>
                <a:cs typeface="Montserrat" panose="00000500000000000000" charset="0"/>
              </a:rPr>
              <a:t> Build a robust pipeline for analyzing </a:t>
            </a:r>
            <a:endParaRPr lang="en-US" sz="1400" dirty="0">
              <a:solidFill>
                <a:schemeClr val="accent1"/>
              </a:solidFill>
              <a:latin typeface="Century Gothic" panose="020B0502020202020204" pitchFamily="34" charset="0"/>
              <a:ea typeface="Montserrat" panose="00000500000000000000" charset="0"/>
              <a:cs typeface="Montserrat" panose="00000500000000000000" charset="0"/>
            </a:endParaRPr>
          </a:p>
          <a:p>
            <a:pPr algn="l">
              <a:lnSpc>
                <a:spcPct val="90000"/>
              </a:lnSpc>
            </a:pPr>
            <a:r>
              <a:rPr lang="en-US" sz="1400" dirty="0">
                <a:solidFill>
                  <a:schemeClr val="accent1"/>
                </a:solidFill>
                <a:latin typeface="Century Gothic" panose="020B0502020202020204" pitchFamily="34" charset="0"/>
                <a:ea typeface="Montserrat" panose="00000500000000000000" charset="0"/>
                <a:cs typeface="Montserrat" panose="00000500000000000000" charset="0"/>
              </a:rPr>
              <a:t>financial data.</a:t>
            </a:r>
            <a:endParaRPr lang="en-US" sz="1400" dirty="0">
              <a:solidFill>
                <a:schemeClr val="accent1"/>
              </a:solidFill>
              <a:latin typeface="Century Gothic" panose="020B0502020202020204" pitchFamily="34" charset="0"/>
              <a:ea typeface="Montserrat" panose="00000500000000000000" charset="0"/>
              <a:cs typeface="Montserrat" panose="00000500000000000000" charset="0"/>
            </a:endParaRPr>
          </a:p>
        </p:txBody>
      </p:sp>
      <p:sp>
        <p:nvSpPr>
          <p:cNvPr id="39" name="TextBox 11"/>
          <p:cNvSpPr txBox="1"/>
          <p:nvPr/>
        </p:nvSpPr>
        <p:spPr>
          <a:xfrm>
            <a:off x="794109" y="1937975"/>
            <a:ext cx="3850640" cy="7270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b="1" spc="1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  <a:uFillTx/>
                <a:latin typeface="Times New Roman Bold" panose="02020603050405020304" charset="0"/>
                <a:ea typeface="Microsoft YaHei" panose="020B0503020204020204" pitchFamily="34" charset="-122"/>
                <a:cs typeface="Times New Roman Bold" panose="02020603050405020304" charset="0"/>
              </a:rPr>
              <a:t>Problem Statement:</a:t>
            </a:r>
            <a:endParaRPr lang="en-US" b="1" spc="1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  <a:alpha val="40000"/>
                  </a:schemeClr>
                </a:outerShdw>
              </a:effectLst>
              <a:uFillTx/>
              <a:latin typeface="Times New Roman Bold" panose="02020603050405020304" charset="0"/>
              <a:ea typeface="Microsoft YaHei" panose="020B0503020204020204" pitchFamily="34" charset="-122"/>
              <a:cs typeface="Times New Roman Bold" panose="02020603050405020304" charset="0"/>
            </a:endParaRPr>
          </a:p>
          <a:p>
            <a:pPr algn="l">
              <a:lnSpc>
                <a:spcPct val="90000"/>
              </a:lnSpc>
            </a:pPr>
            <a:r>
              <a:rPr lang="en-US" sz="1400" b="1" spc="1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  <a:uFillTx/>
                <a:latin typeface="Times New Roman Bold" panose="02020603050405020304" charset="0"/>
                <a:ea typeface="Microsoft YaHei" panose="020B0503020204020204" pitchFamily="34" charset="-122"/>
                <a:cs typeface="Times New Roman Bold" panose="02020603050405020304" charset="0"/>
              </a:rPr>
              <a:t>Recovery and Identifying Statute-Barred </a:t>
            </a:r>
            <a:endParaRPr lang="en-US" sz="1400" b="1" spc="1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  <a:alpha val="40000"/>
                  </a:schemeClr>
                </a:outerShdw>
              </a:effectLst>
              <a:uFillTx/>
              <a:latin typeface="Times New Roman Bold" panose="02020603050405020304" charset="0"/>
              <a:ea typeface="Microsoft YaHei" panose="020B0503020204020204" pitchFamily="34" charset="-122"/>
              <a:cs typeface="Times New Roman Bold" panose="02020603050405020304" charset="0"/>
            </a:endParaRPr>
          </a:p>
          <a:p>
            <a:pPr algn="l">
              <a:lnSpc>
                <a:spcPct val="90000"/>
              </a:lnSpc>
            </a:pPr>
            <a:r>
              <a:rPr lang="en-US" sz="1400" b="1" spc="1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  <a:uFillTx/>
                <a:latin typeface="Times New Roman Bold" panose="02020603050405020304" charset="0"/>
                <a:ea typeface="Microsoft YaHei" panose="020B0503020204020204" pitchFamily="34" charset="-122"/>
                <a:cs typeface="Times New Roman Bold" panose="02020603050405020304" charset="0"/>
              </a:rPr>
              <a:t>Accounts Using Machine Learning</a:t>
            </a:r>
            <a:endParaRPr lang="en-US" sz="1400" b="1" spc="1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  <a:alpha val="40000"/>
                  </a:schemeClr>
                </a:outerShdw>
              </a:effectLst>
              <a:uFillTx/>
              <a:latin typeface="Times New Roman Bold" panose="02020603050405020304" charset="0"/>
              <a:ea typeface="Microsoft YaHei" panose="020B0503020204020204" pitchFamily="34" charset="-122"/>
              <a:cs typeface="Times New Roman Bold" panose="02020603050405020304" charset="0"/>
            </a:endParaRPr>
          </a:p>
        </p:txBody>
      </p:sp>
      <p:sp>
        <p:nvSpPr>
          <p:cNvPr id="40" name="TextBox 12"/>
          <p:cNvSpPr txBox="1"/>
          <p:nvPr/>
        </p:nvSpPr>
        <p:spPr>
          <a:xfrm>
            <a:off x="794109" y="2670569"/>
            <a:ext cx="3645199" cy="2584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chemeClr val="tx1">
                    <a:alpha val="6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Key Deliverables:</a:t>
            </a:r>
            <a:endParaRPr lang="en-US" altLang="zh-CN" sz="1200">
              <a:solidFill>
                <a:schemeClr val="tx1">
                  <a:alpha val="6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1200">
                <a:solidFill>
                  <a:schemeClr val="tx1">
                    <a:alpha val="6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Data Preprocessing</a:t>
            </a:r>
            <a:endParaRPr lang="en-US" altLang="zh-CN" sz="1200">
              <a:solidFill>
                <a:schemeClr val="tx1">
                  <a:alpha val="6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1200">
                <a:solidFill>
                  <a:schemeClr val="tx1">
                    <a:alpha val="6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Feature Engineering</a:t>
            </a:r>
            <a:endParaRPr lang="en-US" altLang="zh-CN" sz="1200">
              <a:solidFill>
                <a:schemeClr val="tx1">
                  <a:alpha val="6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1200">
                <a:solidFill>
                  <a:schemeClr val="tx1">
                    <a:alpha val="6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Model Development</a:t>
            </a:r>
            <a:endParaRPr lang="en-US" altLang="zh-CN" sz="1200">
              <a:solidFill>
                <a:schemeClr val="tx1">
                  <a:alpha val="6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1200">
              <a:solidFill>
                <a:schemeClr val="tx1">
                  <a:alpha val="6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chemeClr val="tx1">
                    <a:alpha val="6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Challenges:</a:t>
            </a:r>
            <a:endParaRPr lang="en-US" altLang="zh-CN" sz="1200">
              <a:solidFill>
                <a:schemeClr val="tx1">
                  <a:alpha val="6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chemeClr val="tx1">
                    <a:alpha val="6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Handling missing values</a:t>
            </a:r>
            <a:endParaRPr lang="en-US" altLang="zh-CN" sz="1200">
              <a:solidFill>
                <a:schemeClr val="tx1">
                  <a:alpha val="6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chemeClr val="tx1">
                    <a:alpha val="6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Generating derived features</a:t>
            </a:r>
            <a:endParaRPr lang="en-US" altLang="zh-CN" sz="1200">
              <a:solidFill>
                <a:schemeClr val="tx1">
                  <a:alpha val="6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chemeClr val="tx1">
                    <a:alpha val="6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Balancing the dataset</a:t>
            </a:r>
            <a:endParaRPr lang="en-US" altLang="zh-CN" sz="1200">
              <a:solidFill>
                <a:schemeClr val="tx1">
                  <a:alpha val="6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41" name="Straight Connector 13"/>
          <p:cNvCxnSpPr/>
          <p:nvPr/>
        </p:nvCxnSpPr>
        <p:spPr>
          <a:xfrm>
            <a:off x="879679" y="6158533"/>
            <a:ext cx="4355261" cy="0"/>
          </a:xfrm>
          <a:prstGeom prst="line">
            <a:avLst/>
          </a:prstGeom>
          <a:ln w="3810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14"/>
          <p:cNvCxnSpPr/>
          <p:nvPr/>
        </p:nvCxnSpPr>
        <p:spPr>
          <a:xfrm>
            <a:off x="5224054" y="6158533"/>
            <a:ext cx="771911" cy="0"/>
          </a:xfrm>
          <a:prstGeom prst="line">
            <a:avLst/>
          </a:prstGeom>
          <a:ln w="38100">
            <a:solidFill>
              <a:srgbClr val="40A69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3" descr="IMG_256"/>
          <p:cNvPicPr>
            <a:picLocks noChangeAspect="1"/>
          </p:cNvPicPr>
          <p:nvPr/>
        </p:nvPicPr>
        <p:blipFill>
          <a:blip r:embed="rId1"/>
          <a:srcRect l="27194" t="7022" b="11410"/>
          <a:stretch>
            <a:fillRect/>
          </a:stretch>
        </p:blipFill>
        <p:spPr>
          <a:xfrm>
            <a:off x="5842635" y="1569085"/>
            <a:ext cx="4982845" cy="3719195"/>
          </a:xfrm>
          <a:prstGeom prst="rect">
            <a:avLst/>
          </a:prstGeom>
          <a:noFill/>
          <a:ln w="952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 descr="e7d195523061f1c0890f1187ace479033ccb95cc259bd258E40C6B657499CA903110765D5A69898084D4C1327ADA76239E138ACFFBF09D5F8694C8F4E967BD8E3FD1B9DBDE618204EC63BE722C34DF10D0EF794F545E9970E0DCE31691BEF09DA10BC6275C41481ACAF0C76150143FEF20800A3F9E1353859C6BC30B9B770A2400E704AA5D28D10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2" name="矩形 11" descr="e7d195523061f1c0890f1187ace479033ccb95cc259bd258E40C6B657499CA903110765D5A69898084D4C1327ADA76239E138ACFFBF09D5F8694C8F4E967BD8E3FD1B9DBDE618204EC63BE722C34DF10D0EF794F545E9970E0DCE31691BEF09DA10BC6275C41481ACAF0C76150143FEF20800A3F9E1353859C6BC30B9B770A2400E704AA5D28D10A"/>
          <p:cNvSpPr/>
          <p:nvPr/>
        </p:nvSpPr>
        <p:spPr>
          <a:xfrm>
            <a:off x="504825" y="480695"/>
            <a:ext cx="11220450" cy="58483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3" name="椭圆 12" descr="e7d195523061f1c0890f1187ace479033ccb95cc259bd258E40C6B657499CA903110765D5A69898084D4C1327ADA76239E138ACFFBF09D5F8694C8F4E967BD8E3FD1B9DBDE618204EC63BE722C34DF10D0EF794F545E9970E0DCE31691BEF09DA10BC6275C41481ACAF0C76150143FEF20800A3F9E1353859C6BC30B9B770A2400E704AA5D28D10A"/>
          <p:cNvSpPr/>
          <p:nvPr/>
        </p:nvSpPr>
        <p:spPr>
          <a:xfrm>
            <a:off x="1159510" y="1455420"/>
            <a:ext cx="2509520" cy="2296160"/>
          </a:xfrm>
          <a:prstGeom prst="ellipse">
            <a:avLst/>
          </a:prstGeom>
          <a:solidFill>
            <a:schemeClr val="bg1"/>
          </a:solidFill>
          <a:ln w="476250">
            <a:solidFill>
              <a:schemeClr val="accent1">
                <a:lumMod val="75000"/>
              </a:schemeClr>
            </a:solidFill>
          </a:ln>
          <a:effectLst>
            <a:outerShdw blurRad="3810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" name="椭圆 13" descr="e7d195523061f1c0890f1187ace479033ccb95cc259bd258E40C6B657499CA903110765D5A69898084D4C1327ADA76239E138ACFFBF09D5F8694C8F4E967BD8E3FD1B9DBDE618204EC63BE722C34DF10D0EF794F545E9970E0DCE31691BEF09DA10BC6275C41481ACAF0C76150143FEF20800A3F9E1353859C6BC30B9B770A2400E704AA5D28D10A"/>
          <p:cNvSpPr/>
          <p:nvPr/>
        </p:nvSpPr>
        <p:spPr>
          <a:xfrm>
            <a:off x="4994910" y="1455420"/>
            <a:ext cx="2509520" cy="2296160"/>
          </a:xfrm>
          <a:prstGeom prst="ellipse">
            <a:avLst/>
          </a:prstGeom>
          <a:solidFill>
            <a:schemeClr val="bg1"/>
          </a:solidFill>
          <a:ln w="476250">
            <a:solidFill>
              <a:schemeClr val="accent1">
                <a:lumMod val="75000"/>
              </a:schemeClr>
            </a:solidFill>
          </a:ln>
          <a:effectLst>
            <a:outerShdw blurRad="3810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5" name="椭圆 14" descr="e7d195523061f1c0890f1187ace479033ccb95cc259bd258E40C6B657499CA903110765D5A69898084D4C1327ADA76239E138ACFFBF09D5F8694C8F4E967BD8E3FD1B9DBDE618204EC63BE722C34DF10D0EF794F545E9970E0DCE31691BEF09DA10BC6275C41481ACAF0C76150143FEF20800A3F9E1353859C6BC30B9B770A2400E704AA5D28D10A"/>
          <p:cNvSpPr/>
          <p:nvPr/>
        </p:nvSpPr>
        <p:spPr>
          <a:xfrm>
            <a:off x="8830310" y="1455420"/>
            <a:ext cx="2353945" cy="2296160"/>
          </a:xfrm>
          <a:prstGeom prst="ellipse">
            <a:avLst/>
          </a:prstGeom>
          <a:solidFill>
            <a:schemeClr val="bg1"/>
          </a:solidFill>
          <a:ln w="476250">
            <a:solidFill>
              <a:schemeClr val="accent1">
                <a:lumMod val="75000"/>
              </a:schemeClr>
            </a:solidFill>
          </a:ln>
          <a:effectLst>
            <a:outerShdw blurRad="3810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6" name="矩形 15" descr="e7d195523061f1c0890f1187ace479033ccb95cc259bd258E40C6B657499CA903110765D5A69898084D4C1327ADA76239E138ACFFBF09D5F8694C8F4E967BD8E3FD1B9DBDE618204EC63BE722C34DF10D0EF794F545E9970E0DCE31691BEF09DA10BC6275C41481ACAF0C76150143FEF20800A3F9E1353859C6BC30B9B770A2400E704AA5D28D10A"/>
          <p:cNvSpPr/>
          <p:nvPr/>
        </p:nvSpPr>
        <p:spPr>
          <a:xfrm>
            <a:off x="1280160" y="2434590"/>
            <a:ext cx="2366645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accent1">
                    <a:lumMod val="75000"/>
                  </a:schemeClr>
                </a:solidFill>
                <a:latin typeface="Century Gothic" panose="020B0502020202020204" pitchFamily="34" charset="0"/>
                <a:ea typeface="方正兰亭粗黑简体" panose="02000000000000000000" pitchFamily="2" charset="-122"/>
              </a:rPr>
              <a:t>1.</a:t>
            </a:r>
            <a:r>
              <a:rPr lang="en-US" altLang="zh-CN" sz="1600" b="1" dirty="0">
                <a:solidFill>
                  <a:schemeClr val="accent1">
                    <a:lumMod val="75000"/>
                  </a:schemeClr>
                </a:solidFill>
                <a:latin typeface="Century Gothic" panose="020B0502020202020204" pitchFamily="34" charset="0"/>
              </a:rPr>
              <a:t>Data Preprocessing</a:t>
            </a:r>
            <a:endParaRPr lang="en-US" altLang="zh-CN" sz="1600" b="1" dirty="0">
              <a:solidFill>
                <a:schemeClr val="accent1">
                  <a:lumMod val="75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17" name="矩形 16" descr="e7d195523061f1c0890f1187ace479033ccb95cc259bd258E40C6B657499CA903110765D5A69898084D4C1327ADA76239E138ACFFBF09D5F8694C8F4E967BD8E3FD1B9DBDE618204EC63BE722C34DF10D0EF794F545E9970E0DCE31691BEF09DA10BC6275C41481ACAF0C76150143FEF20800A3F9E1353859C6BC30B9B770A2400E704AA5D28D10A"/>
          <p:cNvSpPr/>
          <p:nvPr/>
        </p:nvSpPr>
        <p:spPr>
          <a:xfrm>
            <a:off x="5572442" y="2331613"/>
            <a:ext cx="1161415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accent1">
                    <a:lumMod val="75000"/>
                  </a:schemeClr>
                </a:solidFill>
                <a:latin typeface="Century Gothic" panose="020B0502020202020204" pitchFamily="34" charset="0"/>
                <a:ea typeface="微软雅黑 Light" panose="020B0502040204020203" pitchFamily="34" charset="-122"/>
              </a:rPr>
              <a:t>2. EDA</a:t>
            </a:r>
            <a:endParaRPr lang="en-US" altLang="zh-CN" sz="2400" b="1" dirty="0">
              <a:solidFill>
                <a:schemeClr val="accent1">
                  <a:lumMod val="75000"/>
                </a:schemeClr>
              </a:solidFill>
              <a:latin typeface="Century Gothic" panose="020B0502020202020204" pitchFamily="34" charset="0"/>
              <a:ea typeface="微软雅黑 Light" panose="020B0502040204020203" pitchFamily="34" charset="-122"/>
            </a:endParaRPr>
          </a:p>
        </p:txBody>
      </p:sp>
      <p:sp>
        <p:nvSpPr>
          <p:cNvPr id="18" name="矩形 17" descr="e7d195523061f1c0890f1187ace479033ccb95cc259bd258E40C6B657499CA903110765D5A69898084D4C1327ADA76239E138ACFFBF09D5F8694C8F4E967BD8E3FD1B9DBDE618204EC63BE722C34DF10D0EF794F545E9970E0DCE31691BEF09DA10BC6275C41481ACAF0C76150143FEF20800A3F9E1353859C6BC30B9B770A2400E704AA5D28D10A"/>
          <p:cNvSpPr/>
          <p:nvPr/>
        </p:nvSpPr>
        <p:spPr>
          <a:xfrm>
            <a:off x="9469436" y="2434483"/>
            <a:ext cx="1236345" cy="3371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accent1">
                    <a:lumMod val="75000"/>
                  </a:schemeClr>
                </a:solidFill>
                <a:latin typeface="Century Gothic" panose="020B0502020202020204" pitchFamily="34" charset="0"/>
                <a:ea typeface="方正兰亭粗黑简体" panose="02000000000000000000" pitchFamily="2" charset="-122"/>
              </a:rPr>
              <a:t>ML Models</a:t>
            </a:r>
            <a:endParaRPr lang="en-US" altLang="zh-CN" sz="1600" b="1" dirty="0">
              <a:solidFill>
                <a:schemeClr val="accent1">
                  <a:lumMod val="75000"/>
                </a:schemeClr>
              </a:solidFill>
              <a:latin typeface="Century Gothic" panose="020B0502020202020204" pitchFamily="34" charset="0"/>
              <a:ea typeface="微软雅黑 Light" panose="020B0502040204020203" pitchFamily="34" charset="-122"/>
            </a:endParaRPr>
          </a:p>
        </p:txBody>
      </p:sp>
      <p:cxnSp>
        <p:nvCxnSpPr>
          <p:cNvPr id="19" name="直接连接符 18" descr="e7d195523061f1c0890f1187ace479033ccb95cc259bd258E40C6B657499CA903110765D5A69898084D4C1327ADA76239E138ACFFBF09D5F8694C8F4E967BD8E3FD1B9DBDE618204EC63BE722C34DF10D0EF794F545E9970E0DCE31691BEF09DA10BC6275C41481ACAF0C76150143FEF20800A3F9E1353859C6BC30B9B770A2400E704AA5D28D10A"/>
          <p:cNvCxnSpPr/>
          <p:nvPr/>
        </p:nvCxnSpPr>
        <p:spPr>
          <a:xfrm>
            <a:off x="4191000" y="1390650"/>
            <a:ext cx="0" cy="4095750"/>
          </a:xfrm>
          <a:prstGeom prst="line">
            <a:avLst/>
          </a:prstGeom>
          <a:ln>
            <a:solidFill>
              <a:srgbClr val="0005C8">
                <a:alpha val="1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 descr="e7d195523061f1c0890f1187ace479033ccb95cc259bd258E40C6B657499CA903110765D5A69898084D4C1327ADA76239E138ACFFBF09D5F8694C8F4E967BD8E3FD1B9DBDE618204EC63BE722C34DF10D0EF794F545E9970E0DCE31691BEF09DA10BC6275C41481ACAF0C76150143FEF20800A3F9E1353859C6BC30B9B770A2400E704AA5D28D10A"/>
          <p:cNvCxnSpPr/>
          <p:nvPr/>
        </p:nvCxnSpPr>
        <p:spPr>
          <a:xfrm>
            <a:off x="8001000" y="1390650"/>
            <a:ext cx="0" cy="4095750"/>
          </a:xfrm>
          <a:prstGeom prst="line">
            <a:avLst/>
          </a:prstGeom>
          <a:ln>
            <a:solidFill>
              <a:srgbClr val="0005C8">
                <a:alpha val="1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/>
          <p:cNvSpPr txBox="1"/>
          <p:nvPr/>
        </p:nvSpPr>
        <p:spPr>
          <a:xfrm>
            <a:off x="1557655" y="4025265"/>
            <a:ext cx="167576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>
                <a:solidFill>
                  <a:srgbClr val="404040"/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</a:rPr>
              <a:t>Data Cleaning</a:t>
            </a:r>
            <a:endParaRPr lang="en-US" altLang="zh-CN" sz="2000" b="1">
              <a:solidFill>
                <a:srgbClr val="404040"/>
              </a:solidFill>
              <a:latin typeface="冬青黑体简体中文 W3" panose="020B0300000000000000" pitchFamily="34" charset="-122"/>
              <a:ea typeface="冬青黑体简体中文 W3" panose="020B0300000000000000" pitchFamily="34" charset="-122"/>
            </a:endParaRPr>
          </a:p>
        </p:txBody>
      </p:sp>
      <p:sp>
        <p:nvSpPr>
          <p:cNvPr id="28" name="文本框 78"/>
          <p:cNvSpPr txBox="1"/>
          <p:nvPr/>
        </p:nvSpPr>
        <p:spPr>
          <a:xfrm>
            <a:off x="1069975" y="4819015"/>
            <a:ext cx="2651125" cy="12712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en-US" altLang="zh-CN" sz="1600">
                <a:solidFill>
                  <a:srgbClr val="595959"/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</a:rPr>
              <a:t>Handling Missing Data</a:t>
            </a:r>
            <a:endParaRPr lang="en-US" altLang="zh-CN" sz="1600">
              <a:solidFill>
                <a:srgbClr val="595959"/>
              </a:solidFill>
              <a:latin typeface="冬青黑体简体中文 W3" panose="020B0300000000000000" pitchFamily="34" charset="-122"/>
              <a:ea typeface="冬青黑体简体中文 W3" panose="020B0300000000000000" pitchFamily="34" charset="-122"/>
            </a:endParaRPr>
          </a:p>
          <a:p>
            <a:pPr algn="ctr">
              <a:lnSpc>
                <a:spcPct val="120000"/>
              </a:lnSpc>
            </a:pPr>
            <a:r>
              <a:rPr lang="en-US" altLang="zh-CN" sz="1600">
                <a:solidFill>
                  <a:srgbClr val="595959"/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</a:rPr>
              <a:t>Cleansing of Data</a:t>
            </a:r>
            <a:endParaRPr lang="en-US" altLang="zh-CN" sz="1600">
              <a:solidFill>
                <a:srgbClr val="595959"/>
              </a:solidFill>
              <a:latin typeface="冬青黑体简体中文 W3" panose="020B0300000000000000" pitchFamily="34" charset="-122"/>
              <a:ea typeface="冬青黑体简体中文 W3" panose="020B0300000000000000" pitchFamily="34" charset="-122"/>
            </a:endParaRPr>
          </a:p>
          <a:p>
            <a:pPr algn="ctr">
              <a:lnSpc>
                <a:spcPct val="120000"/>
              </a:lnSpc>
            </a:pPr>
            <a:r>
              <a:rPr lang="en-US" altLang="zh-CN" sz="1600">
                <a:solidFill>
                  <a:srgbClr val="595959"/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</a:rPr>
              <a:t>Data Manipulation</a:t>
            </a:r>
            <a:endParaRPr lang="en-US" altLang="zh-CN" sz="1600">
              <a:solidFill>
                <a:srgbClr val="595959"/>
              </a:solidFill>
              <a:latin typeface="冬青黑体简体中文 W3" panose="020B0300000000000000" pitchFamily="34" charset="-122"/>
              <a:ea typeface="冬青黑体简体中文 W3" panose="020B0300000000000000" pitchFamily="34" charset="-122"/>
            </a:endParaRPr>
          </a:p>
          <a:p>
            <a:pPr algn="ctr">
              <a:lnSpc>
                <a:spcPct val="120000"/>
              </a:lnSpc>
            </a:pPr>
            <a:endParaRPr lang="en-US" altLang="zh-CN" sz="1600" dirty="0">
              <a:solidFill>
                <a:srgbClr val="595959"/>
              </a:solidFill>
              <a:latin typeface="冬青黑体简体中文 W3" panose="020B0300000000000000" pitchFamily="34" charset="-122"/>
              <a:ea typeface="冬青黑体简体中文 W3" panose="020B0300000000000000" pitchFamily="34" charset="-122"/>
            </a:endParaRPr>
          </a:p>
        </p:txBody>
      </p:sp>
      <p:cxnSp>
        <p:nvCxnSpPr>
          <p:cNvPr id="33" name="直接连接符 32"/>
          <p:cNvCxnSpPr/>
          <p:nvPr/>
        </p:nvCxnSpPr>
        <p:spPr>
          <a:xfrm>
            <a:off x="2248835" y="4726471"/>
            <a:ext cx="294231" cy="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>
            <a:off x="5967605" y="4726448"/>
            <a:ext cx="294231" cy="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/>
        </p:nvCxnSpPr>
        <p:spPr>
          <a:xfrm>
            <a:off x="9739587" y="4726448"/>
            <a:ext cx="294231" cy="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26"/>
          <p:cNvSpPr txBox="1"/>
          <p:nvPr/>
        </p:nvSpPr>
        <p:spPr>
          <a:xfrm>
            <a:off x="5272405" y="4025265"/>
            <a:ext cx="167576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>
                <a:solidFill>
                  <a:srgbClr val="404040"/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</a:rPr>
              <a:t>Statistical Analysis</a:t>
            </a:r>
            <a:endParaRPr lang="en-US" altLang="zh-CN" sz="2000" b="1">
              <a:solidFill>
                <a:srgbClr val="404040"/>
              </a:solidFill>
              <a:latin typeface="冬青黑体简体中文 W3" panose="020B0300000000000000" pitchFamily="34" charset="-122"/>
              <a:ea typeface="冬青黑体简体中文 W3" panose="020B0300000000000000" pitchFamily="34" charset="-122"/>
            </a:endParaRPr>
          </a:p>
        </p:txBody>
      </p:sp>
      <p:sp>
        <p:nvSpPr>
          <p:cNvPr id="3" name="文本框 78"/>
          <p:cNvSpPr txBox="1"/>
          <p:nvPr/>
        </p:nvSpPr>
        <p:spPr>
          <a:xfrm>
            <a:off x="4789170" y="4819015"/>
            <a:ext cx="2651125" cy="975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en-US" altLang="zh-CN" sz="1600">
                <a:solidFill>
                  <a:srgbClr val="595959"/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</a:rPr>
              <a:t>EDA Goals</a:t>
            </a:r>
            <a:endParaRPr lang="en-US" altLang="zh-CN" sz="1600">
              <a:solidFill>
                <a:srgbClr val="595959"/>
              </a:solidFill>
              <a:latin typeface="冬青黑体简体中文 W3" panose="020B0300000000000000" pitchFamily="34" charset="-122"/>
              <a:ea typeface="冬青黑体简体中文 W3" panose="020B0300000000000000" pitchFamily="34" charset="-122"/>
            </a:endParaRPr>
          </a:p>
          <a:p>
            <a:pPr algn="ctr">
              <a:lnSpc>
                <a:spcPct val="12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</a:rPr>
              <a:t>Statiscal Insights</a:t>
            </a:r>
            <a:endParaRPr lang="en-US" altLang="zh-CN" sz="1600" dirty="0">
              <a:solidFill>
                <a:srgbClr val="595959"/>
              </a:solidFill>
              <a:latin typeface="冬青黑体简体中文 W3" panose="020B0300000000000000" pitchFamily="34" charset="-122"/>
              <a:ea typeface="冬青黑体简体中文 W3" panose="020B0300000000000000" pitchFamily="34" charset="-122"/>
            </a:endParaRPr>
          </a:p>
          <a:p>
            <a:pPr algn="ctr">
              <a:lnSpc>
                <a:spcPct val="12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</a:rPr>
              <a:t>Feature Analysis</a:t>
            </a:r>
            <a:endParaRPr lang="en-US" altLang="zh-CN" sz="1600" dirty="0">
              <a:solidFill>
                <a:srgbClr val="595959"/>
              </a:solidFill>
              <a:latin typeface="冬青黑体简体中文 W3" panose="020B0300000000000000" pitchFamily="34" charset="-122"/>
              <a:ea typeface="冬青黑体简体中文 W3" panose="020B0300000000000000" pitchFamily="34" charset="-122"/>
            </a:endParaRPr>
          </a:p>
        </p:txBody>
      </p:sp>
      <p:sp>
        <p:nvSpPr>
          <p:cNvPr id="4" name="文本框 26"/>
          <p:cNvSpPr txBox="1"/>
          <p:nvPr/>
        </p:nvSpPr>
        <p:spPr>
          <a:xfrm>
            <a:off x="9029700" y="3992880"/>
            <a:ext cx="167576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>
                <a:solidFill>
                  <a:srgbClr val="404040"/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</a:rPr>
              <a:t>Building Models</a:t>
            </a:r>
            <a:endParaRPr lang="en-US" altLang="zh-CN" sz="2000" b="1">
              <a:solidFill>
                <a:srgbClr val="404040"/>
              </a:solidFill>
              <a:latin typeface="冬青黑体简体中文 W3" panose="020B0300000000000000" pitchFamily="34" charset="-122"/>
              <a:ea typeface="冬青黑体简体中文 W3" panose="020B0300000000000000" pitchFamily="34" charset="-122"/>
            </a:endParaRPr>
          </a:p>
        </p:txBody>
      </p:sp>
      <p:sp>
        <p:nvSpPr>
          <p:cNvPr id="5" name="文本框 78"/>
          <p:cNvSpPr txBox="1"/>
          <p:nvPr/>
        </p:nvSpPr>
        <p:spPr>
          <a:xfrm>
            <a:off x="8542020" y="4819015"/>
            <a:ext cx="2651125" cy="15659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en-US" altLang="zh-CN" sz="1600">
                <a:solidFill>
                  <a:srgbClr val="595959"/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</a:rPr>
              <a:t>Machine Learning Models</a:t>
            </a:r>
            <a:endParaRPr lang="en-US" altLang="zh-CN" sz="1600">
              <a:solidFill>
                <a:srgbClr val="595959"/>
              </a:solidFill>
              <a:latin typeface="冬青黑体简体中文 W3" panose="020B0300000000000000" pitchFamily="34" charset="-122"/>
              <a:ea typeface="冬青黑体简体中文 W3" panose="020B0300000000000000" pitchFamily="34" charset="-122"/>
            </a:endParaRPr>
          </a:p>
          <a:p>
            <a:pPr algn="ctr">
              <a:lnSpc>
                <a:spcPct val="120000"/>
              </a:lnSpc>
            </a:pPr>
            <a:r>
              <a:rPr lang="en-US" altLang="zh-CN" sz="1600">
                <a:solidFill>
                  <a:srgbClr val="595959"/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</a:rPr>
              <a:t>Binary Classification Models</a:t>
            </a:r>
            <a:endParaRPr lang="en-US" altLang="zh-CN" sz="1600">
              <a:solidFill>
                <a:srgbClr val="595959"/>
              </a:solidFill>
              <a:latin typeface="冬青黑体简体中文 W3" panose="020B0300000000000000" pitchFamily="34" charset="-122"/>
              <a:ea typeface="冬青黑体简体中文 W3" panose="020B0300000000000000" pitchFamily="34" charset="-122"/>
            </a:endParaRPr>
          </a:p>
          <a:p>
            <a:pPr algn="ctr">
              <a:lnSpc>
                <a:spcPct val="120000"/>
              </a:lnSpc>
            </a:pPr>
            <a:endParaRPr lang="en-US" altLang="zh-CN" sz="1600">
              <a:solidFill>
                <a:srgbClr val="595959"/>
              </a:solidFill>
              <a:latin typeface="冬青黑体简体中文 W3" panose="020B0300000000000000" pitchFamily="34" charset="-122"/>
              <a:ea typeface="冬青黑体简体中文 W3" panose="020B0300000000000000" pitchFamily="34" charset="-122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410210" y="112395"/>
            <a:ext cx="36360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Project Roadmap</a:t>
            </a:r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 cstate="email"/>
          <a:stretch>
            <a:fillRect/>
          </a:stretch>
        </p:blipFill>
        <p:spPr>
          <a:xfrm>
            <a:off x="-131083" y="1290320"/>
            <a:ext cx="7564017" cy="4632960"/>
          </a:xfrm>
          <a:prstGeom prst="rect">
            <a:avLst/>
          </a:prstGeom>
        </p:spPr>
      </p:pic>
      <p:sp>
        <p:nvSpPr>
          <p:cNvPr id="20" name="文本框 19"/>
          <p:cNvSpPr txBox="1"/>
          <p:nvPr/>
        </p:nvSpPr>
        <p:spPr>
          <a:xfrm>
            <a:off x="746088" y="475991"/>
            <a:ext cx="257937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0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Data Preprocessing</a:t>
            </a:r>
            <a:endParaRPr lang="zh-CN" altLang="en-US" sz="20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289435" y="545974"/>
            <a:ext cx="340519" cy="260145"/>
          </a:xfrm>
          <a:prstGeom prst="rect">
            <a:avLst/>
          </a:prstGeom>
          <a:solidFill>
            <a:schemeClr val="accent1">
              <a:lumMod val="75000"/>
            </a:schemeClr>
          </a:solidFill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2" name="椭圆 21"/>
          <p:cNvSpPr/>
          <p:nvPr/>
        </p:nvSpPr>
        <p:spPr>
          <a:xfrm flipH="1" flipV="1">
            <a:off x="7462213" y="1991473"/>
            <a:ext cx="564370" cy="56437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6" name="椭圆 25"/>
          <p:cNvSpPr/>
          <p:nvPr/>
        </p:nvSpPr>
        <p:spPr>
          <a:xfrm flipH="1" flipV="1">
            <a:off x="7460450" y="3222364"/>
            <a:ext cx="564370" cy="56437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7" name="椭圆 26"/>
          <p:cNvSpPr/>
          <p:nvPr/>
        </p:nvSpPr>
        <p:spPr>
          <a:xfrm flipH="1" flipV="1">
            <a:off x="7462213" y="4453253"/>
            <a:ext cx="564370" cy="56437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8" name="Freeform 92"/>
          <p:cNvSpPr>
            <a:spLocks noChangeArrowheads="1"/>
          </p:cNvSpPr>
          <p:nvPr/>
        </p:nvSpPr>
        <p:spPr bwMode="auto">
          <a:xfrm>
            <a:off x="7636626" y="4594249"/>
            <a:ext cx="215544" cy="282378"/>
          </a:xfrm>
          <a:custGeom>
            <a:avLst/>
            <a:gdLst>
              <a:gd name="T0" fmla="*/ 143373 w 472"/>
              <a:gd name="T1" fmla="*/ 26330 h 619"/>
              <a:gd name="T2" fmla="*/ 143373 w 472"/>
              <a:gd name="T3" fmla="*/ 26330 h 619"/>
              <a:gd name="T4" fmla="*/ 127482 w 472"/>
              <a:gd name="T5" fmla="*/ 26330 h 619"/>
              <a:gd name="T6" fmla="*/ 84868 w 472"/>
              <a:gd name="T7" fmla="*/ 0 h 619"/>
              <a:gd name="T8" fmla="*/ 42253 w 472"/>
              <a:gd name="T9" fmla="*/ 26330 h 619"/>
              <a:gd name="T10" fmla="*/ 26363 w 472"/>
              <a:gd name="T11" fmla="*/ 26330 h 619"/>
              <a:gd name="T12" fmla="*/ 0 w 472"/>
              <a:gd name="T13" fmla="*/ 53021 h 619"/>
              <a:gd name="T14" fmla="*/ 0 w 472"/>
              <a:gd name="T15" fmla="*/ 196214 h 619"/>
              <a:gd name="T16" fmla="*/ 26363 w 472"/>
              <a:gd name="T17" fmla="*/ 222904 h 619"/>
              <a:gd name="T18" fmla="*/ 143373 w 472"/>
              <a:gd name="T19" fmla="*/ 222904 h 619"/>
              <a:gd name="T20" fmla="*/ 170097 w 472"/>
              <a:gd name="T21" fmla="*/ 196214 h 619"/>
              <a:gd name="T22" fmla="*/ 170097 w 472"/>
              <a:gd name="T23" fmla="*/ 53021 h 619"/>
              <a:gd name="T24" fmla="*/ 143373 w 472"/>
              <a:gd name="T25" fmla="*/ 26330 h 619"/>
              <a:gd name="T26" fmla="*/ 84868 w 472"/>
              <a:gd name="T27" fmla="*/ 10460 h 619"/>
              <a:gd name="T28" fmla="*/ 84868 w 472"/>
              <a:gd name="T29" fmla="*/ 10460 h 619"/>
              <a:gd name="T30" fmla="*/ 111592 w 472"/>
              <a:gd name="T31" fmla="*/ 26330 h 619"/>
              <a:gd name="T32" fmla="*/ 58505 w 472"/>
              <a:gd name="T33" fmla="*/ 26330 h 619"/>
              <a:gd name="T34" fmla="*/ 84868 w 472"/>
              <a:gd name="T35" fmla="*/ 10460 h 619"/>
              <a:gd name="T36" fmla="*/ 153846 w 472"/>
              <a:gd name="T37" fmla="*/ 196214 h 619"/>
              <a:gd name="T38" fmla="*/ 153846 w 472"/>
              <a:gd name="T39" fmla="*/ 196214 h 619"/>
              <a:gd name="T40" fmla="*/ 143373 w 472"/>
              <a:gd name="T41" fmla="*/ 212444 h 619"/>
              <a:gd name="T42" fmla="*/ 26363 w 472"/>
              <a:gd name="T43" fmla="*/ 212444 h 619"/>
              <a:gd name="T44" fmla="*/ 15890 w 472"/>
              <a:gd name="T45" fmla="*/ 196214 h 619"/>
              <a:gd name="T46" fmla="*/ 15890 w 472"/>
              <a:gd name="T47" fmla="*/ 180343 h 619"/>
              <a:gd name="T48" fmla="*/ 153846 w 472"/>
              <a:gd name="T49" fmla="*/ 180343 h 619"/>
              <a:gd name="T50" fmla="*/ 153846 w 472"/>
              <a:gd name="T51" fmla="*/ 196214 h 619"/>
              <a:gd name="T52" fmla="*/ 153846 w 472"/>
              <a:gd name="T53" fmla="*/ 169883 h 619"/>
              <a:gd name="T54" fmla="*/ 153846 w 472"/>
              <a:gd name="T55" fmla="*/ 169883 h 619"/>
              <a:gd name="T56" fmla="*/ 15890 w 472"/>
              <a:gd name="T57" fmla="*/ 169883 h 619"/>
              <a:gd name="T58" fmla="*/ 15890 w 472"/>
              <a:gd name="T59" fmla="*/ 53021 h 619"/>
              <a:gd name="T60" fmla="*/ 26363 w 472"/>
              <a:gd name="T61" fmla="*/ 42561 h 619"/>
              <a:gd name="T62" fmla="*/ 42253 w 472"/>
              <a:gd name="T63" fmla="*/ 42561 h 619"/>
              <a:gd name="T64" fmla="*/ 42253 w 472"/>
              <a:gd name="T65" fmla="*/ 84761 h 619"/>
              <a:gd name="T66" fmla="*/ 58505 w 472"/>
              <a:gd name="T67" fmla="*/ 84761 h 619"/>
              <a:gd name="T68" fmla="*/ 58505 w 472"/>
              <a:gd name="T69" fmla="*/ 42561 h 619"/>
              <a:gd name="T70" fmla="*/ 111592 w 472"/>
              <a:gd name="T71" fmla="*/ 42561 h 619"/>
              <a:gd name="T72" fmla="*/ 111592 w 472"/>
              <a:gd name="T73" fmla="*/ 84761 h 619"/>
              <a:gd name="T74" fmla="*/ 127482 w 472"/>
              <a:gd name="T75" fmla="*/ 84761 h 619"/>
              <a:gd name="T76" fmla="*/ 127482 w 472"/>
              <a:gd name="T77" fmla="*/ 42561 h 619"/>
              <a:gd name="T78" fmla="*/ 143373 w 472"/>
              <a:gd name="T79" fmla="*/ 42561 h 619"/>
              <a:gd name="T80" fmla="*/ 153846 w 472"/>
              <a:gd name="T81" fmla="*/ 53021 h 619"/>
              <a:gd name="T82" fmla="*/ 153846 w 472"/>
              <a:gd name="T83" fmla="*/ 169883 h 619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</a:gdLst>
            <a:ahLst/>
            <a:cxnLst>
              <a:cxn ang="T84">
                <a:pos x="T0" y="T1"/>
              </a:cxn>
              <a:cxn ang="T85">
                <a:pos x="T2" y="T3"/>
              </a:cxn>
              <a:cxn ang="T86">
                <a:pos x="T4" y="T5"/>
              </a:cxn>
              <a:cxn ang="T87">
                <a:pos x="T6" y="T7"/>
              </a:cxn>
              <a:cxn ang="T88">
                <a:pos x="T8" y="T9"/>
              </a:cxn>
              <a:cxn ang="T89">
                <a:pos x="T10" y="T11"/>
              </a:cxn>
              <a:cxn ang="T90">
                <a:pos x="T12" y="T13"/>
              </a:cxn>
              <a:cxn ang="T91">
                <a:pos x="T14" y="T15"/>
              </a:cxn>
              <a:cxn ang="T92">
                <a:pos x="T16" y="T17"/>
              </a:cxn>
              <a:cxn ang="T93">
                <a:pos x="T18" y="T19"/>
              </a:cxn>
              <a:cxn ang="T94">
                <a:pos x="T20" y="T21"/>
              </a:cxn>
              <a:cxn ang="T95">
                <a:pos x="T22" y="T23"/>
              </a:cxn>
              <a:cxn ang="T96">
                <a:pos x="T24" y="T25"/>
              </a:cxn>
              <a:cxn ang="T97">
                <a:pos x="T26" y="T27"/>
              </a:cxn>
              <a:cxn ang="T98">
                <a:pos x="T28" y="T29"/>
              </a:cxn>
              <a:cxn ang="T99">
                <a:pos x="T30" y="T31"/>
              </a:cxn>
              <a:cxn ang="T100">
                <a:pos x="T32" y="T33"/>
              </a:cxn>
              <a:cxn ang="T101">
                <a:pos x="T34" y="T35"/>
              </a:cxn>
              <a:cxn ang="T102">
                <a:pos x="T36" y="T37"/>
              </a:cxn>
              <a:cxn ang="T103">
                <a:pos x="T38" y="T39"/>
              </a:cxn>
              <a:cxn ang="T104">
                <a:pos x="T40" y="T41"/>
              </a:cxn>
              <a:cxn ang="T105">
                <a:pos x="T42" y="T43"/>
              </a:cxn>
              <a:cxn ang="T106">
                <a:pos x="T44" y="T45"/>
              </a:cxn>
              <a:cxn ang="T107">
                <a:pos x="T46" y="T47"/>
              </a:cxn>
              <a:cxn ang="T108">
                <a:pos x="T48" y="T49"/>
              </a:cxn>
              <a:cxn ang="T109">
                <a:pos x="T50" y="T51"/>
              </a:cxn>
              <a:cxn ang="T110">
                <a:pos x="T52" y="T53"/>
              </a:cxn>
              <a:cxn ang="T111">
                <a:pos x="T54" y="T55"/>
              </a:cxn>
              <a:cxn ang="T112">
                <a:pos x="T56" y="T57"/>
              </a:cxn>
              <a:cxn ang="T113">
                <a:pos x="T58" y="T59"/>
              </a:cxn>
              <a:cxn ang="T114">
                <a:pos x="T60" y="T61"/>
              </a:cxn>
              <a:cxn ang="T115">
                <a:pos x="T62" y="T63"/>
              </a:cxn>
              <a:cxn ang="T116">
                <a:pos x="T64" y="T65"/>
              </a:cxn>
              <a:cxn ang="T117">
                <a:pos x="T66" y="T67"/>
              </a:cxn>
              <a:cxn ang="T118">
                <a:pos x="T68" y="T69"/>
              </a:cxn>
              <a:cxn ang="T119">
                <a:pos x="T70" y="T71"/>
              </a:cxn>
              <a:cxn ang="T120">
                <a:pos x="T72" y="T73"/>
              </a:cxn>
              <a:cxn ang="T121">
                <a:pos x="T74" y="T75"/>
              </a:cxn>
              <a:cxn ang="T122">
                <a:pos x="T76" y="T77"/>
              </a:cxn>
              <a:cxn ang="T123">
                <a:pos x="T78" y="T79"/>
              </a:cxn>
              <a:cxn ang="T124">
                <a:pos x="T80" y="T81"/>
              </a:cxn>
              <a:cxn ang="T125">
                <a:pos x="T82" y="T83"/>
              </a:cxn>
            </a:cxnLst>
            <a:rect l="0" t="0" r="r" b="b"/>
            <a:pathLst>
              <a:path w="472" h="619">
                <a:moveTo>
                  <a:pt x="397" y="73"/>
                </a:moveTo>
                <a:lnTo>
                  <a:pt x="397" y="73"/>
                </a:lnTo>
                <a:cubicBezTo>
                  <a:pt x="353" y="73"/>
                  <a:pt x="353" y="73"/>
                  <a:pt x="353" y="73"/>
                </a:cubicBezTo>
                <a:cubicBezTo>
                  <a:pt x="353" y="29"/>
                  <a:pt x="294" y="0"/>
                  <a:pt x="235" y="0"/>
                </a:cubicBezTo>
                <a:cubicBezTo>
                  <a:pt x="176" y="0"/>
                  <a:pt x="117" y="29"/>
                  <a:pt x="117" y="73"/>
                </a:cubicBezTo>
                <a:cubicBezTo>
                  <a:pt x="73" y="73"/>
                  <a:pt x="73" y="73"/>
                  <a:pt x="73" y="73"/>
                </a:cubicBezTo>
                <a:cubicBezTo>
                  <a:pt x="29" y="73"/>
                  <a:pt x="0" y="103"/>
                  <a:pt x="0" y="147"/>
                </a:cubicBezTo>
                <a:cubicBezTo>
                  <a:pt x="0" y="544"/>
                  <a:pt x="0" y="544"/>
                  <a:pt x="0" y="544"/>
                </a:cubicBezTo>
                <a:cubicBezTo>
                  <a:pt x="0" y="589"/>
                  <a:pt x="29" y="618"/>
                  <a:pt x="73" y="618"/>
                </a:cubicBezTo>
                <a:cubicBezTo>
                  <a:pt x="397" y="618"/>
                  <a:pt x="397" y="618"/>
                  <a:pt x="397" y="618"/>
                </a:cubicBezTo>
                <a:cubicBezTo>
                  <a:pt x="441" y="618"/>
                  <a:pt x="471" y="589"/>
                  <a:pt x="471" y="544"/>
                </a:cubicBezTo>
                <a:cubicBezTo>
                  <a:pt x="471" y="147"/>
                  <a:pt x="471" y="147"/>
                  <a:pt x="471" y="147"/>
                </a:cubicBezTo>
                <a:cubicBezTo>
                  <a:pt x="471" y="103"/>
                  <a:pt x="441" y="73"/>
                  <a:pt x="397" y="73"/>
                </a:cubicBezTo>
                <a:close/>
                <a:moveTo>
                  <a:pt x="235" y="29"/>
                </a:moveTo>
                <a:lnTo>
                  <a:pt x="235" y="29"/>
                </a:lnTo>
                <a:cubicBezTo>
                  <a:pt x="279" y="29"/>
                  <a:pt x="309" y="44"/>
                  <a:pt x="309" y="73"/>
                </a:cubicBezTo>
                <a:cubicBezTo>
                  <a:pt x="162" y="73"/>
                  <a:pt x="162" y="73"/>
                  <a:pt x="162" y="73"/>
                </a:cubicBezTo>
                <a:cubicBezTo>
                  <a:pt x="162" y="44"/>
                  <a:pt x="191" y="29"/>
                  <a:pt x="235" y="29"/>
                </a:cubicBezTo>
                <a:close/>
                <a:moveTo>
                  <a:pt x="426" y="544"/>
                </a:moveTo>
                <a:lnTo>
                  <a:pt x="426" y="544"/>
                </a:lnTo>
                <a:cubicBezTo>
                  <a:pt x="426" y="559"/>
                  <a:pt x="412" y="589"/>
                  <a:pt x="397" y="589"/>
                </a:cubicBezTo>
                <a:cubicBezTo>
                  <a:pt x="73" y="589"/>
                  <a:pt x="73" y="589"/>
                  <a:pt x="73" y="589"/>
                </a:cubicBezTo>
                <a:cubicBezTo>
                  <a:pt x="58" y="589"/>
                  <a:pt x="44" y="559"/>
                  <a:pt x="44" y="544"/>
                </a:cubicBezTo>
                <a:cubicBezTo>
                  <a:pt x="44" y="500"/>
                  <a:pt x="44" y="500"/>
                  <a:pt x="44" y="500"/>
                </a:cubicBezTo>
                <a:cubicBezTo>
                  <a:pt x="426" y="500"/>
                  <a:pt x="426" y="500"/>
                  <a:pt x="426" y="500"/>
                </a:cubicBezTo>
                <a:lnTo>
                  <a:pt x="426" y="544"/>
                </a:lnTo>
                <a:close/>
                <a:moveTo>
                  <a:pt x="426" y="471"/>
                </a:moveTo>
                <a:lnTo>
                  <a:pt x="426" y="471"/>
                </a:lnTo>
                <a:cubicBezTo>
                  <a:pt x="44" y="471"/>
                  <a:pt x="44" y="471"/>
                  <a:pt x="44" y="471"/>
                </a:cubicBezTo>
                <a:cubicBezTo>
                  <a:pt x="44" y="147"/>
                  <a:pt x="44" y="147"/>
                  <a:pt x="44" y="147"/>
                </a:cubicBezTo>
                <a:cubicBezTo>
                  <a:pt x="44" y="132"/>
                  <a:pt x="58" y="118"/>
                  <a:pt x="73" y="118"/>
                </a:cubicBezTo>
                <a:cubicBezTo>
                  <a:pt x="117" y="118"/>
                  <a:pt x="117" y="118"/>
                  <a:pt x="117" y="118"/>
                </a:cubicBezTo>
                <a:cubicBezTo>
                  <a:pt x="117" y="235"/>
                  <a:pt x="117" y="235"/>
                  <a:pt x="117" y="235"/>
                </a:cubicBezTo>
                <a:cubicBezTo>
                  <a:pt x="162" y="235"/>
                  <a:pt x="162" y="235"/>
                  <a:pt x="162" y="235"/>
                </a:cubicBezTo>
                <a:cubicBezTo>
                  <a:pt x="162" y="118"/>
                  <a:pt x="162" y="118"/>
                  <a:pt x="162" y="118"/>
                </a:cubicBezTo>
                <a:cubicBezTo>
                  <a:pt x="309" y="118"/>
                  <a:pt x="309" y="118"/>
                  <a:pt x="309" y="118"/>
                </a:cubicBezTo>
                <a:cubicBezTo>
                  <a:pt x="309" y="235"/>
                  <a:pt x="309" y="235"/>
                  <a:pt x="309" y="235"/>
                </a:cubicBezTo>
                <a:cubicBezTo>
                  <a:pt x="353" y="235"/>
                  <a:pt x="353" y="235"/>
                  <a:pt x="353" y="235"/>
                </a:cubicBezTo>
                <a:cubicBezTo>
                  <a:pt x="353" y="118"/>
                  <a:pt x="353" y="118"/>
                  <a:pt x="353" y="118"/>
                </a:cubicBezTo>
                <a:cubicBezTo>
                  <a:pt x="397" y="118"/>
                  <a:pt x="397" y="118"/>
                  <a:pt x="397" y="118"/>
                </a:cubicBezTo>
                <a:cubicBezTo>
                  <a:pt x="412" y="118"/>
                  <a:pt x="426" y="132"/>
                  <a:pt x="426" y="147"/>
                </a:cubicBezTo>
                <a:lnTo>
                  <a:pt x="426" y="47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/>
          </a:p>
        </p:txBody>
      </p:sp>
      <p:sp>
        <p:nvSpPr>
          <p:cNvPr id="29" name="Freeform 95"/>
          <p:cNvSpPr>
            <a:spLocks noChangeArrowheads="1"/>
          </p:cNvSpPr>
          <p:nvPr/>
        </p:nvSpPr>
        <p:spPr bwMode="auto">
          <a:xfrm>
            <a:off x="7606458" y="3390091"/>
            <a:ext cx="280708" cy="228912"/>
          </a:xfrm>
          <a:custGeom>
            <a:avLst/>
            <a:gdLst>
              <a:gd name="T0" fmla="*/ 216253 w 619"/>
              <a:gd name="T1" fmla="*/ 42267 h 501"/>
              <a:gd name="T2" fmla="*/ 184694 w 619"/>
              <a:gd name="T3" fmla="*/ 10477 h 501"/>
              <a:gd name="T4" fmla="*/ 211232 w 619"/>
              <a:gd name="T5" fmla="*/ 5058 h 501"/>
              <a:gd name="T6" fmla="*/ 174293 w 619"/>
              <a:gd name="T7" fmla="*/ 0 h 501"/>
              <a:gd name="T8" fmla="*/ 68498 w 619"/>
              <a:gd name="T9" fmla="*/ 42267 h 501"/>
              <a:gd name="T10" fmla="*/ 21159 w 619"/>
              <a:gd name="T11" fmla="*/ 0 h 501"/>
              <a:gd name="T12" fmla="*/ 21159 w 619"/>
              <a:gd name="T13" fmla="*/ 10477 h 501"/>
              <a:gd name="T14" fmla="*/ 52718 w 619"/>
              <a:gd name="T15" fmla="*/ 42267 h 501"/>
              <a:gd name="T16" fmla="*/ 0 w 619"/>
              <a:gd name="T17" fmla="*/ 47686 h 501"/>
              <a:gd name="T18" fmla="*/ 10400 w 619"/>
              <a:gd name="T19" fmla="*/ 53105 h 501"/>
              <a:gd name="T20" fmla="*/ 47339 w 619"/>
              <a:gd name="T21" fmla="*/ 180630 h 501"/>
              <a:gd name="T22" fmla="*/ 195452 w 619"/>
              <a:gd name="T23" fmla="*/ 153897 h 501"/>
              <a:gd name="T24" fmla="*/ 216253 w 619"/>
              <a:gd name="T25" fmla="*/ 53105 h 501"/>
              <a:gd name="T26" fmla="*/ 216253 w 619"/>
              <a:gd name="T27" fmla="*/ 42267 h 501"/>
              <a:gd name="T28" fmla="*/ 68498 w 619"/>
              <a:gd name="T29" fmla="*/ 170153 h 501"/>
              <a:gd name="T30" fmla="*/ 31559 w 619"/>
              <a:gd name="T31" fmla="*/ 153897 h 501"/>
              <a:gd name="T32" fmla="*/ 68498 w 619"/>
              <a:gd name="T33" fmla="*/ 138001 h 501"/>
              <a:gd name="T34" fmla="*/ 68498 w 619"/>
              <a:gd name="T35" fmla="*/ 127525 h 501"/>
              <a:gd name="T36" fmla="*/ 31559 w 619"/>
              <a:gd name="T37" fmla="*/ 127525 h 501"/>
              <a:gd name="T38" fmla="*/ 68498 w 619"/>
              <a:gd name="T39" fmla="*/ 95373 h 501"/>
              <a:gd name="T40" fmla="*/ 68498 w 619"/>
              <a:gd name="T41" fmla="*/ 84896 h 501"/>
              <a:gd name="T42" fmla="*/ 26180 w 619"/>
              <a:gd name="T43" fmla="*/ 84896 h 501"/>
              <a:gd name="T44" fmla="*/ 68498 w 619"/>
              <a:gd name="T45" fmla="*/ 53105 h 501"/>
              <a:gd name="T46" fmla="*/ 137355 w 619"/>
              <a:gd name="T47" fmla="*/ 170153 h 501"/>
              <a:gd name="T48" fmla="*/ 84636 w 619"/>
              <a:gd name="T49" fmla="*/ 170153 h 501"/>
              <a:gd name="T50" fmla="*/ 137355 w 619"/>
              <a:gd name="T51" fmla="*/ 138001 h 501"/>
              <a:gd name="T52" fmla="*/ 137355 w 619"/>
              <a:gd name="T53" fmla="*/ 127525 h 501"/>
              <a:gd name="T54" fmla="*/ 84636 w 619"/>
              <a:gd name="T55" fmla="*/ 127525 h 501"/>
              <a:gd name="T56" fmla="*/ 137355 w 619"/>
              <a:gd name="T57" fmla="*/ 95373 h 501"/>
              <a:gd name="T58" fmla="*/ 137355 w 619"/>
              <a:gd name="T59" fmla="*/ 84896 h 501"/>
              <a:gd name="T60" fmla="*/ 84636 w 619"/>
              <a:gd name="T61" fmla="*/ 84896 h 501"/>
              <a:gd name="T62" fmla="*/ 137355 w 619"/>
              <a:gd name="T63" fmla="*/ 53105 h 501"/>
              <a:gd name="T64" fmla="*/ 179314 w 619"/>
              <a:gd name="T65" fmla="*/ 153897 h 501"/>
              <a:gd name="T66" fmla="*/ 168914 w 619"/>
              <a:gd name="T67" fmla="*/ 170153 h 501"/>
              <a:gd name="T68" fmla="*/ 153134 w 619"/>
              <a:gd name="T69" fmla="*/ 138001 h 501"/>
              <a:gd name="T70" fmla="*/ 179314 w 619"/>
              <a:gd name="T71" fmla="*/ 153897 h 501"/>
              <a:gd name="T72" fmla="*/ 184694 w 619"/>
              <a:gd name="T73" fmla="*/ 127525 h 501"/>
              <a:gd name="T74" fmla="*/ 153134 w 619"/>
              <a:gd name="T75" fmla="*/ 95373 h 501"/>
              <a:gd name="T76" fmla="*/ 184694 w 619"/>
              <a:gd name="T77" fmla="*/ 127525 h 501"/>
              <a:gd name="T78" fmla="*/ 190073 w 619"/>
              <a:gd name="T79" fmla="*/ 84896 h 501"/>
              <a:gd name="T80" fmla="*/ 153134 w 619"/>
              <a:gd name="T81" fmla="*/ 53105 h 501"/>
              <a:gd name="T82" fmla="*/ 190073 w 619"/>
              <a:gd name="T83" fmla="*/ 84896 h 501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</a:gdLst>
            <a:ahLst/>
            <a:cxnLst>
              <a:cxn ang="T84">
                <a:pos x="T0" y="T1"/>
              </a:cxn>
              <a:cxn ang="T85">
                <a:pos x="T2" y="T3"/>
              </a:cxn>
              <a:cxn ang="T86">
                <a:pos x="T4" y="T5"/>
              </a:cxn>
              <a:cxn ang="T87">
                <a:pos x="T6" y="T7"/>
              </a:cxn>
              <a:cxn ang="T88">
                <a:pos x="T8" y="T9"/>
              </a:cxn>
              <a:cxn ang="T89">
                <a:pos x="T10" y="T11"/>
              </a:cxn>
              <a:cxn ang="T90">
                <a:pos x="T12" y="T13"/>
              </a:cxn>
              <a:cxn ang="T91">
                <a:pos x="T14" y="T15"/>
              </a:cxn>
              <a:cxn ang="T92">
                <a:pos x="T16" y="T17"/>
              </a:cxn>
              <a:cxn ang="T93">
                <a:pos x="T18" y="T19"/>
              </a:cxn>
              <a:cxn ang="T94">
                <a:pos x="T20" y="T21"/>
              </a:cxn>
              <a:cxn ang="T95">
                <a:pos x="T22" y="T23"/>
              </a:cxn>
              <a:cxn ang="T96">
                <a:pos x="T24" y="T25"/>
              </a:cxn>
              <a:cxn ang="T97">
                <a:pos x="T26" y="T27"/>
              </a:cxn>
              <a:cxn ang="T98">
                <a:pos x="T28" y="T29"/>
              </a:cxn>
              <a:cxn ang="T99">
                <a:pos x="T30" y="T31"/>
              </a:cxn>
              <a:cxn ang="T100">
                <a:pos x="T32" y="T33"/>
              </a:cxn>
              <a:cxn ang="T101">
                <a:pos x="T34" y="T35"/>
              </a:cxn>
              <a:cxn ang="T102">
                <a:pos x="T36" y="T37"/>
              </a:cxn>
              <a:cxn ang="T103">
                <a:pos x="T38" y="T39"/>
              </a:cxn>
              <a:cxn ang="T104">
                <a:pos x="T40" y="T41"/>
              </a:cxn>
              <a:cxn ang="T105">
                <a:pos x="T42" y="T43"/>
              </a:cxn>
              <a:cxn ang="T106">
                <a:pos x="T44" y="T45"/>
              </a:cxn>
              <a:cxn ang="T107">
                <a:pos x="T46" y="T47"/>
              </a:cxn>
              <a:cxn ang="T108">
                <a:pos x="T48" y="T49"/>
              </a:cxn>
              <a:cxn ang="T109">
                <a:pos x="T50" y="T51"/>
              </a:cxn>
              <a:cxn ang="T110">
                <a:pos x="T52" y="T53"/>
              </a:cxn>
              <a:cxn ang="T111">
                <a:pos x="T54" y="T55"/>
              </a:cxn>
              <a:cxn ang="T112">
                <a:pos x="T56" y="T57"/>
              </a:cxn>
              <a:cxn ang="T113">
                <a:pos x="T58" y="T59"/>
              </a:cxn>
              <a:cxn ang="T114">
                <a:pos x="T60" y="T61"/>
              </a:cxn>
              <a:cxn ang="T115">
                <a:pos x="T62" y="T63"/>
              </a:cxn>
              <a:cxn ang="T116">
                <a:pos x="T64" y="T65"/>
              </a:cxn>
              <a:cxn ang="T117">
                <a:pos x="T66" y="T67"/>
              </a:cxn>
              <a:cxn ang="T118">
                <a:pos x="T68" y="T69"/>
              </a:cxn>
              <a:cxn ang="T119">
                <a:pos x="T70" y="T71"/>
              </a:cxn>
              <a:cxn ang="T120">
                <a:pos x="T72" y="T73"/>
              </a:cxn>
              <a:cxn ang="T121">
                <a:pos x="T74" y="T75"/>
              </a:cxn>
              <a:cxn ang="T122">
                <a:pos x="T76" y="T77"/>
              </a:cxn>
              <a:cxn ang="T123">
                <a:pos x="T78" y="T79"/>
              </a:cxn>
              <a:cxn ang="T124">
                <a:pos x="T80" y="T81"/>
              </a:cxn>
              <a:cxn ang="T125">
                <a:pos x="T82" y="T83"/>
              </a:cxn>
            </a:cxnLst>
            <a:rect l="0" t="0" r="r" b="b"/>
            <a:pathLst>
              <a:path w="619" h="501">
                <a:moveTo>
                  <a:pt x="603" y="117"/>
                </a:moveTo>
                <a:lnTo>
                  <a:pt x="603" y="117"/>
                </a:lnTo>
                <a:cubicBezTo>
                  <a:pt x="471" y="117"/>
                  <a:pt x="471" y="117"/>
                  <a:pt x="471" y="117"/>
                </a:cubicBezTo>
                <a:cubicBezTo>
                  <a:pt x="515" y="29"/>
                  <a:pt x="515" y="29"/>
                  <a:pt x="515" y="29"/>
                </a:cubicBezTo>
                <a:cubicBezTo>
                  <a:pt x="559" y="29"/>
                  <a:pt x="559" y="29"/>
                  <a:pt x="559" y="29"/>
                </a:cubicBezTo>
                <a:cubicBezTo>
                  <a:pt x="574" y="29"/>
                  <a:pt x="589" y="29"/>
                  <a:pt x="589" y="14"/>
                </a:cubicBezTo>
                <a:cubicBezTo>
                  <a:pt x="589" y="0"/>
                  <a:pt x="574" y="0"/>
                  <a:pt x="559" y="0"/>
                </a:cubicBezTo>
                <a:cubicBezTo>
                  <a:pt x="486" y="0"/>
                  <a:pt x="486" y="0"/>
                  <a:pt x="486" y="0"/>
                </a:cubicBezTo>
                <a:cubicBezTo>
                  <a:pt x="427" y="117"/>
                  <a:pt x="427" y="117"/>
                  <a:pt x="427" y="117"/>
                </a:cubicBezTo>
                <a:cubicBezTo>
                  <a:pt x="191" y="117"/>
                  <a:pt x="191" y="117"/>
                  <a:pt x="191" y="117"/>
                </a:cubicBezTo>
                <a:cubicBezTo>
                  <a:pt x="132" y="0"/>
                  <a:pt x="132" y="0"/>
                  <a:pt x="132" y="0"/>
                </a:cubicBezTo>
                <a:cubicBezTo>
                  <a:pt x="59" y="0"/>
                  <a:pt x="59" y="0"/>
                  <a:pt x="59" y="0"/>
                </a:cubicBezTo>
                <a:cubicBezTo>
                  <a:pt x="44" y="0"/>
                  <a:pt x="29" y="0"/>
                  <a:pt x="29" y="14"/>
                </a:cubicBezTo>
                <a:cubicBezTo>
                  <a:pt x="29" y="29"/>
                  <a:pt x="44" y="29"/>
                  <a:pt x="59" y="29"/>
                </a:cubicBezTo>
                <a:cubicBezTo>
                  <a:pt x="103" y="29"/>
                  <a:pt x="103" y="29"/>
                  <a:pt x="103" y="29"/>
                </a:cubicBezTo>
                <a:cubicBezTo>
                  <a:pt x="147" y="117"/>
                  <a:pt x="147" y="117"/>
                  <a:pt x="147" y="117"/>
                </a:cubicBezTo>
                <a:cubicBezTo>
                  <a:pt x="15" y="117"/>
                  <a:pt x="15" y="117"/>
                  <a:pt x="15" y="117"/>
                </a:cubicBezTo>
                <a:cubicBezTo>
                  <a:pt x="0" y="117"/>
                  <a:pt x="0" y="117"/>
                  <a:pt x="0" y="132"/>
                </a:cubicBezTo>
                <a:cubicBezTo>
                  <a:pt x="0" y="147"/>
                  <a:pt x="0" y="147"/>
                  <a:pt x="15" y="147"/>
                </a:cubicBezTo>
                <a:cubicBezTo>
                  <a:pt x="29" y="147"/>
                  <a:pt x="29" y="147"/>
                  <a:pt x="29" y="147"/>
                </a:cubicBezTo>
                <a:cubicBezTo>
                  <a:pt x="59" y="426"/>
                  <a:pt x="59" y="426"/>
                  <a:pt x="59" y="426"/>
                </a:cubicBezTo>
                <a:cubicBezTo>
                  <a:pt x="59" y="471"/>
                  <a:pt x="88" y="500"/>
                  <a:pt x="132" y="500"/>
                </a:cubicBezTo>
                <a:cubicBezTo>
                  <a:pt x="471" y="500"/>
                  <a:pt x="471" y="500"/>
                  <a:pt x="471" y="500"/>
                </a:cubicBezTo>
                <a:cubicBezTo>
                  <a:pt x="515" y="500"/>
                  <a:pt x="545" y="471"/>
                  <a:pt x="545" y="426"/>
                </a:cubicBezTo>
                <a:cubicBezTo>
                  <a:pt x="589" y="147"/>
                  <a:pt x="589" y="147"/>
                  <a:pt x="589" y="147"/>
                </a:cubicBezTo>
                <a:cubicBezTo>
                  <a:pt x="603" y="147"/>
                  <a:pt x="603" y="147"/>
                  <a:pt x="603" y="147"/>
                </a:cubicBezTo>
                <a:cubicBezTo>
                  <a:pt x="618" y="147"/>
                  <a:pt x="618" y="147"/>
                  <a:pt x="618" y="132"/>
                </a:cubicBezTo>
                <a:cubicBezTo>
                  <a:pt x="618" y="117"/>
                  <a:pt x="618" y="117"/>
                  <a:pt x="603" y="117"/>
                </a:cubicBezTo>
                <a:close/>
                <a:moveTo>
                  <a:pt x="191" y="471"/>
                </a:moveTo>
                <a:lnTo>
                  <a:pt x="191" y="471"/>
                </a:lnTo>
                <a:cubicBezTo>
                  <a:pt x="132" y="471"/>
                  <a:pt x="132" y="471"/>
                  <a:pt x="132" y="471"/>
                </a:cubicBezTo>
                <a:cubicBezTo>
                  <a:pt x="118" y="471"/>
                  <a:pt x="88" y="441"/>
                  <a:pt x="88" y="426"/>
                </a:cubicBezTo>
                <a:cubicBezTo>
                  <a:pt x="88" y="382"/>
                  <a:pt x="88" y="382"/>
                  <a:pt x="88" y="382"/>
                </a:cubicBezTo>
                <a:cubicBezTo>
                  <a:pt x="191" y="382"/>
                  <a:pt x="191" y="382"/>
                  <a:pt x="191" y="382"/>
                </a:cubicBezTo>
                <a:lnTo>
                  <a:pt x="191" y="471"/>
                </a:lnTo>
                <a:close/>
                <a:moveTo>
                  <a:pt x="191" y="353"/>
                </a:moveTo>
                <a:lnTo>
                  <a:pt x="191" y="353"/>
                </a:lnTo>
                <a:cubicBezTo>
                  <a:pt x="88" y="353"/>
                  <a:pt x="88" y="353"/>
                  <a:pt x="88" y="353"/>
                </a:cubicBezTo>
                <a:cubicBezTo>
                  <a:pt x="88" y="264"/>
                  <a:pt x="88" y="264"/>
                  <a:pt x="88" y="264"/>
                </a:cubicBezTo>
                <a:cubicBezTo>
                  <a:pt x="191" y="264"/>
                  <a:pt x="191" y="264"/>
                  <a:pt x="191" y="264"/>
                </a:cubicBezTo>
                <a:lnTo>
                  <a:pt x="191" y="353"/>
                </a:lnTo>
                <a:close/>
                <a:moveTo>
                  <a:pt x="191" y="235"/>
                </a:moveTo>
                <a:lnTo>
                  <a:pt x="191" y="235"/>
                </a:lnTo>
                <a:cubicBezTo>
                  <a:pt x="73" y="235"/>
                  <a:pt x="73" y="235"/>
                  <a:pt x="73" y="235"/>
                </a:cubicBezTo>
                <a:cubicBezTo>
                  <a:pt x="73" y="147"/>
                  <a:pt x="73" y="147"/>
                  <a:pt x="73" y="147"/>
                </a:cubicBezTo>
                <a:cubicBezTo>
                  <a:pt x="191" y="147"/>
                  <a:pt x="191" y="147"/>
                  <a:pt x="191" y="147"/>
                </a:cubicBezTo>
                <a:lnTo>
                  <a:pt x="191" y="235"/>
                </a:lnTo>
                <a:close/>
                <a:moveTo>
                  <a:pt x="383" y="471"/>
                </a:moveTo>
                <a:lnTo>
                  <a:pt x="383" y="471"/>
                </a:lnTo>
                <a:cubicBezTo>
                  <a:pt x="236" y="471"/>
                  <a:pt x="236" y="471"/>
                  <a:pt x="236" y="471"/>
                </a:cubicBezTo>
                <a:cubicBezTo>
                  <a:pt x="236" y="382"/>
                  <a:pt x="236" y="382"/>
                  <a:pt x="236" y="382"/>
                </a:cubicBezTo>
                <a:cubicBezTo>
                  <a:pt x="383" y="382"/>
                  <a:pt x="383" y="382"/>
                  <a:pt x="383" y="382"/>
                </a:cubicBezTo>
                <a:lnTo>
                  <a:pt x="383" y="471"/>
                </a:lnTo>
                <a:close/>
                <a:moveTo>
                  <a:pt x="383" y="353"/>
                </a:moveTo>
                <a:lnTo>
                  <a:pt x="383" y="353"/>
                </a:lnTo>
                <a:cubicBezTo>
                  <a:pt x="236" y="353"/>
                  <a:pt x="236" y="353"/>
                  <a:pt x="236" y="353"/>
                </a:cubicBezTo>
                <a:cubicBezTo>
                  <a:pt x="236" y="264"/>
                  <a:pt x="236" y="264"/>
                  <a:pt x="236" y="264"/>
                </a:cubicBezTo>
                <a:cubicBezTo>
                  <a:pt x="383" y="264"/>
                  <a:pt x="383" y="264"/>
                  <a:pt x="383" y="264"/>
                </a:cubicBezTo>
                <a:lnTo>
                  <a:pt x="383" y="353"/>
                </a:lnTo>
                <a:close/>
                <a:moveTo>
                  <a:pt x="383" y="235"/>
                </a:moveTo>
                <a:lnTo>
                  <a:pt x="383" y="235"/>
                </a:lnTo>
                <a:cubicBezTo>
                  <a:pt x="236" y="235"/>
                  <a:pt x="236" y="235"/>
                  <a:pt x="236" y="235"/>
                </a:cubicBezTo>
                <a:cubicBezTo>
                  <a:pt x="236" y="147"/>
                  <a:pt x="236" y="147"/>
                  <a:pt x="236" y="147"/>
                </a:cubicBezTo>
                <a:cubicBezTo>
                  <a:pt x="383" y="147"/>
                  <a:pt x="383" y="147"/>
                  <a:pt x="383" y="147"/>
                </a:cubicBezTo>
                <a:lnTo>
                  <a:pt x="383" y="235"/>
                </a:lnTo>
                <a:close/>
                <a:moveTo>
                  <a:pt x="500" y="426"/>
                </a:moveTo>
                <a:lnTo>
                  <a:pt x="500" y="426"/>
                </a:lnTo>
                <a:cubicBezTo>
                  <a:pt x="500" y="441"/>
                  <a:pt x="486" y="471"/>
                  <a:pt x="471" y="471"/>
                </a:cubicBezTo>
                <a:cubicBezTo>
                  <a:pt x="427" y="471"/>
                  <a:pt x="427" y="471"/>
                  <a:pt x="427" y="471"/>
                </a:cubicBezTo>
                <a:cubicBezTo>
                  <a:pt x="427" y="382"/>
                  <a:pt x="427" y="382"/>
                  <a:pt x="427" y="382"/>
                </a:cubicBezTo>
                <a:cubicBezTo>
                  <a:pt x="515" y="382"/>
                  <a:pt x="515" y="382"/>
                  <a:pt x="515" y="382"/>
                </a:cubicBezTo>
                <a:lnTo>
                  <a:pt x="500" y="426"/>
                </a:lnTo>
                <a:close/>
                <a:moveTo>
                  <a:pt x="515" y="353"/>
                </a:moveTo>
                <a:lnTo>
                  <a:pt x="515" y="353"/>
                </a:lnTo>
                <a:cubicBezTo>
                  <a:pt x="427" y="353"/>
                  <a:pt x="427" y="353"/>
                  <a:pt x="427" y="353"/>
                </a:cubicBezTo>
                <a:cubicBezTo>
                  <a:pt x="427" y="264"/>
                  <a:pt x="427" y="264"/>
                  <a:pt x="427" y="264"/>
                </a:cubicBezTo>
                <a:cubicBezTo>
                  <a:pt x="530" y="264"/>
                  <a:pt x="530" y="264"/>
                  <a:pt x="530" y="264"/>
                </a:cubicBezTo>
                <a:lnTo>
                  <a:pt x="515" y="353"/>
                </a:lnTo>
                <a:close/>
                <a:moveTo>
                  <a:pt x="530" y="235"/>
                </a:moveTo>
                <a:lnTo>
                  <a:pt x="530" y="235"/>
                </a:lnTo>
                <a:cubicBezTo>
                  <a:pt x="427" y="235"/>
                  <a:pt x="427" y="235"/>
                  <a:pt x="427" y="235"/>
                </a:cubicBezTo>
                <a:cubicBezTo>
                  <a:pt x="427" y="147"/>
                  <a:pt x="427" y="147"/>
                  <a:pt x="427" y="147"/>
                </a:cubicBezTo>
                <a:cubicBezTo>
                  <a:pt x="545" y="147"/>
                  <a:pt x="545" y="147"/>
                  <a:pt x="545" y="147"/>
                </a:cubicBezTo>
                <a:lnTo>
                  <a:pt x="530" y="23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/>
          </a:p>
        </p:txBody>
      </p:sp>
      <p:sp>
        <p:nvSpPr>
          <p:cNvPr id="30" name="Freeform 109"/>
          <p:cNvSpPr>
            <a:spLocks noChangeArrowheads="1"/>
          </p:cNvSpPr>
          <p:nvPr/>
        </p:nvSpPr>
        <p:spPr bwMode="auto">
          <a:xfrm>
            <a:off x="7598104" y="2129128"/>
            <a:ext cx="289062" cy="289060"/>
          </a:xfrm>
          <a:custGeom>
            <a:avLst/>
            <a:gdLst>
              <a:gd name="T0" fmla="*/ 116822 w 634"/>
              <a:gd name="T1" fmla="*/ 0 h 634"/>
              <a:gd name="T2" fmla="*/ 116822 w 634"/>
              <a:gd name="T3" fmla="*/ 228190 h 634"/>
              <a:gd name="T4" fmla="*/ 116822 w 634"/>
              <a:gd name="T5" fmla="*/ 0 h 634"/>
              <a:gd name="T6" fmla="*/ 196507 w 634"/>
              <a:gd name="T7" fmla="*/ 58399 h 634"/>
              <a:gd name="T8" fmla="*/ 159369 w 634"/>
              <a:gd name="T9" fmla="*/ 105984 h 634"/>
              <a:gd name="T10" fmla="*/ 196507 w 634"/>
              <a:gd name="T11" fmla="*/ 58399 h 634"/>
              <a:gd name="T12" fmla="*/ 186051 w 634"/>
              <a:gd name="T13" fmla="*/ 47945 h 634"/>
              <a:gd name="T14" fmla="*/ 138096 w 634"/>
              <a:gd name="T15" fmla="*/ 21269 h 634"/>
              <a:gd name="T16" fmla="*/ 85093 w 634"/>
              <a:gd name="T17" fmla="*/ 105984 h 634"/>
              <a:gd name="T18" fmla="*/ 90501 w 634"/>
              <a:gd name="T19" fmla="*/ 69214 h 634"/>
              <a:gd name="T20" fmla="*/ 138096 w 634"/>
              <a:gd name="T21" fmla="*/ 69214 h 634"/>
              <a:gd name="T22" fmla="*/ 85093 w 634"/>
              <a:gd name="T23" fmla="*/ 105984 h 634"/>
              <a:gd name="T24" fmla="*/ 143504 w 634"/>
              <a:gd name="T25" fmla="*/ 122206 h 634"/>
              <a:gd name="T26" fmla="*/ 116822 w 634"/>
              <a:gd name="T27" fmla="*/ 159336 h 634"/>
              <a:gd name="T28" fmla="*/ 85093 w 634"/>
              <a:gd name="T29" fmla="*/ 122206 h 634"/>
              <a:gd name="T30" fmla="*/ 106366 w 634"/>
              <a:gd name="T31" fmla="*/ 15862 h 634"/>
              <a:gd name="T32" fmla="*/ 116822 w 634"/>
              <a:gd name="T33" fmla="*/ 15862 h 634"/>
              <a:gd name="T34" fmla="*/ 138096 w 634"/>
              <a:gd name="T35" fmla="*/ 58399 h 634"/>
              <a:gd name="T36" fmla="*/ 95549 w 634"/>
              <a:gd name="T37" fmla="*/ 58399 h 634"/>
              <a:gd name="T38" fmla="*/ 90501 w 634"/>
              <a:gd name="T39" fmla="*/ 21269 h 634"/>
              <a:gd name="T40" fmla="*/ 79684 w 634"/>
              <a:gd name="T41" fmla="*/ 52992 h 634"/>
              <a:gd name="T42" fmla="*/ 90501 w 634"/>
              <a:gd name="T43" fmla="*/ 21269 h 634"/>
              <a:gd name="T44" fmla="*/ 32090 w 634"/>
              <a:gd name="T45" fmla="*/ 58399 h 634"/>
              <a:gd name="T46" fmla="*/ 74637 w 634"/>
              <a:gd name="T47" fmla="*/ 105984 h 634"/>
              <a:gd name="T48" fmla="*/ 32090 w 634"/>
              <a:gd name="T49" fmla="*/ 58399 h 634"/>
              <a:gd name="T50" fmla="*/ 32090 w 634"/>
              <a:gd name="T51" fmla="*/ 169790 h 634"/>
              <a:gd name="T52" fmla="*/ 74637 w 634"/>
              <a:gd name="T53" fmla="*/ 122206 h 634"/>
              <a:gd name="T54" fmla="*/ 32090 w 634"/>
              <a:gd name="T55" fmla="*/ 169790 h 634"/>
              <a:gd name="T56" fmla="*/ 42546 w 634"/>
              <a:gd name="T57" fmla="*/ 180605 h 634"/>
              <a:gd name="T58" fmla="*/ 90501 w 634"/>
              <a:gd name="T59" fmla="*/ 212328 h 634"/>
              <a:gd name="T60" fmla="*/ 122231 w 634"/>
              <a:gd name="T61" fmla="*/ 212328 h 634"/>
              <a:gd name="T62" fmla="*/ 116822 w 634"/>
              <a:gd name="T63" fmla="*/ 212328 h 634"/>
              <a:gd name="T64" fmla="*/ 95549 w 634"/>
              <a:gd name="T65" fmla="*/ 169790 h 634"/>
              <a:gd name="T66" fmla="*/ 138096 w 634"/>
              <a:gd name="T67" fmla="*/ 169790 h 634"/>
              <a:gd name="T68" fmla="*/ 138096 w 634"/>
              <a:gd name="T69" fmla="*/ 212328 h 634"/>
              <a:gd name="T70" fmla="*/ 148552 w 634"/>
              <a:gd name="T71" fmla="*/ 175198 h 634"/>
              <a:gd name="T72" fmla="*/ 138096 w 634"/>
              <a:gd name="T73" fmla="*/ 212328 h 634"/>
              <a:gd name="T74" fmla="*/ 196507 w 634"/>
              <a:gd name="T75" fmla="*/ 169790 h 634"/>
              <a:gd name="T76" fmla="*/ 159369 w 634"/>
              <a:gd name="T77" fmla="*/ 122206 h 634"/>
              <a:gd name="T78" fmla="*/ 196507 w 634"/>
              <a:gd name="T79" fmla="*/ 169790 h 634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634" h="634">
                <a:moveTo>
                  <a:pt x="324" y="0"/>
                </a:moveTo>
                <a:lnTo>
                  <a:pt x="324" y="0"/>
                </a:lnTo>
                <a:cubicBezTo>
                  <a:pt x="148" y="0"/>
                  <a:pt x="0" y="147"/>
                  <a:pt x="0" y="324"/>
                </a:cubicBezTo>
                <a:cubicBezTo>
                  <a:pt x="0" y="486"/>
                  <a:pt x="148" y="633"/>
                  <a:pt x="324" y="633"/>
                </a:cubicBezTo>
                <a:cubicBezTo>
                  <a:pt x="486" y="633"/>
                  <a:pt x="633" y="486"/>
                  <a:pt x="633" y="324"/>
                </a:cubicBezTo>
                <a:cubicBezTo>
                  <a:pt x="633" y="147"/>
                  <a:pt x="486" y="0"/>
                  <a:pt x="324" y="0"/>
                </a:cubicBezTo>
                <a:close/>
                <a:moveTo>
                  <a:pt x="545" y="162"/>
                </a:moveTo>
                <a:lnTo>
                  <a:pt x="545" y="162"/>
                </a:lnTo>
                <a:cubicBezTo>
                  <a:pt x="574" y="206"/>
                  <a:pt x="589" y="251"/>
                  <a:pt x="589" y="294"/>
                </a:cubicBezTo>
                <a:cubicBezTo>
                  <a:pt x="442" y="294"/>
                  <a:pt x="442" y="294"/>
                  <a:pt x="442" y="294"/>
                </a:cubicBezTo>
                <a:cubicBezTo>
                  <a:pt x="442" y="265"/>
                  <a:pt x="427" y="221"/>
                  <a:pt x="427" y="192"/>
                </a:cubicBezTo>
                <a:cubicBezTo>
                  <a:pt x="471" y="192"/>
                  <a:pt x="516" y="177"/>
                  <a:pt x="545" y="162"/>
                </a:cubicBezTo>
                <a:close/>
                <a:moveTo>
                  <a:pt x="516" y="133"/>
                </a:moveTo>
                <a:lnTo>
                  <a:pt x="516" y="133"/>
                </a:lnTo>
                <a:cubicBezTo>
                  <a:pt x="486" y="147"/>
                  <a:pt x="457" y="147"/>
                  <a:pt x="412" y="147"/>
                </a:cubicBezTo>
                <a:cubicBezTo>
                  <a:pt x="412" y="118"/>
                  <a:pt x="398" y="89"/>
                  <a:pt x="383" y="59"/>
                </a:cubicBezTo>
                <a:cubicBezTo>
                  <a:pt x="442" y="59"/>
                  <a:pt x="486" y="89"/>
                  <a:pt x="516" y="133"/>
                </a:cubicBezTo>
                <a:close/>
                <a:moveTo>
                  <a:pt x="236" y="294"/>
                </a:moveTo>
                <a:lnTo>
                  <a:pt x="236" y="294"/>
                </a:lnTo>
                <a:cubicBezTo>
                  <a:pt x="236" y="265"/>
                  <a:pt x="251" y="236"/>
                  <a:pt x="251" y="192"/>
                </a:cubicBezTo>
                <a:cubicBezTo>
                  <a:pt x="280" y="206"/>
                  <a:pt x="295" y="206"/>
                  <a:pt x="324" y="206"/>
                </a:cubicBezTo>
                <a:cubicBezTo>
                  <a:pt x="339" y="206"/>
                  <a:pt x="369" y="206"/>
                  <a:pt x="383" y="192"/>
                </a:cubicBezTo>
                <a:cubicBezTo>
                  <a:pt x="398" y="236"/>
                  <a:pt x="398" y="265"/>
                  <a:pt x="398" y="294"/>
                </a:cubicBezTo>
                <a:lnTo>
                  <a:pt x="236" y="294"/>
                </a:lnTo>
                <a:close/>
                <a:moveTo>
                  <a:pt x="398" y="339"/>
                </a:moveTo>
                <a:lnTo>
                  <a:pt x="398" y="339"/>
                </a:lnTo>
                <a:cubicBezTo>
                  <a:pt x="398" y="368"/>
                  <a:pt x="398" y="412"/>
                  <a:pt x="383" y="442"/>
                </a:cubicBezTo>
                <a:cubicBezTo>
                  <a:pt x="369" y="442"/>
                  <a:pt x="339" y="442"/>
                  <a:pt x="324" y="442"/>
                </a:cubicBezTo>
                <a:cubicBezTo>
                  <a:pt x="295" y="442"/>
                  <a:pt x="280" y="442"/>
                  <a:pt x="251" y="442"/>
                </a:cubicBezTo>
                <a:cubicBezTo>
                  <a:pt x="251" y="412"/>
                  <a:pt x="236" y="368"/>
                  <a:pt x="236" y="339"/>
                </a:cubicBezTo>
                <a:lnTo>
                  <a:pt x="398" y="339"/>
                </a:lnTo>
                <a:close/>
                <a:moveTo>
                  <a:pt x="295" y="44"/>
                </a:moveTo>
                <a:lnTo>
                  <a:pt x="295" y="44"/>
                </a:lnTo>
                <a:cubicBezTo>
                  <a:pt x="310" y="44"/>
                  <a:pt x="310" y="44"/>
                  <a:pt x="324" y="44"/>
                </a:cubicBezTo>
                <a:lnTo>
                  <a:pt x="339" y="44"/>
                </a:lnTo>
                <a:cubicBezTo>
                  <a:pt x="354" y="74"/>
                  <a:pt x="369" y="118"/>
                  <a:pt x="383" y="162"/>
                </a:cubicBezTo>
                <a:cubicBezTo>
                  <a:pt x="354" y="162"/>
                  <a:pt x="339" y="162"/>
                  <a:pt x="324" y="162"/>
                </a:cubicBezTo>
                <a:cubicBezTo>
                  <a:pt x="295" y="162"/>
                  <a:pt x="280" y="162"/>
                  <a:pt x="265" y="162"/>
                </a:cubicBezTo>
                <a:cubicBezTo>
                  <a:pt x="265" y="118"/>
                  <a:pt x="280" y="74"/>
                  <a:pt x="295" y="44"/>
                </a:cubicBezTo>
                <a:close/>
                <a:moveTo>
                  <a:pt x="251" y="59"/>
                </a:moveTo>
                <a:lnTo>
                  <a:pt x="251" y="59"/>
                </a:lnTo>
                <a:cubicBezTo>
                  <a:pt x="236" y="89"/>
                  <a:pt x="221" y="118"/>
                  <a:pt x="221" y="147"/>
                </a:cubicBezTo>
                <a:cubicBezTo>
                  <a:pt x="192" y="147"/>
                  <a:pt x="148" y="147"/>
                  <a:pt x="118" y="133"/>
                </a:cubicBezTo>
                <a:cubicBezTo>
                  <a:pt x="148" y="89"/>
                  <a:pt x="207" y="59"/>
                  <a:pt x="251" y="59"/>
                </a:cubicBezTo>
                <a:close/>
                <a:moveTo>
                  <a:pt x="89" y="162"/>
                </a:moveTo>
                <a:lnTo>
                  <a:pt x="89" y="162"/>
                </a:lnTo>
                <a:cubicBezTo>
                  <a:pt x="133" y="177"/>
                  <a:pt x="177" y="192"/>
                  <a:pt x="207" y="192"/>
                </a:cubicBezTo>
                <a:cubicBezTo>
                  <a:pt x="207" y="221"/>
                  <a:pt x="207" y="265"/>
                  <a:pt x="207" y="294"/>
                </a:cubicBezTo>
                <a:cubicBezTo>
                  <a:pt x="44" y="294"/>
                  <a:pt x="44" y="294"/>
                  <a:pt x="44" y="294"/>
                </a:cubicBezTo>
                <a:cubicBezTo>
                  <a:pt x="44" y="251"/>
                  <a:pt x="59" y="206"/>
                  <a:pt x="89" y="162"/>
                </a:cubicBezTo>
                <a:close/>
                <a:moveTo>
                  <a:pt x="89" y="471"/>
                </a:moveTo>
                <a:lnTo>
                  <a:pt x="89" y="471"/>
                </a:lnTo>
                <a:cubicBezTo>
                  <a:pt x="59" y="427"/>
                  <a:pt x="44" y="383"/>
                  <a:pt x="44" y="339"/>
                </a:cubicBezTo>
                <a:cubicBezTo>
                  <a:pt x="207" y="339"/>
                  <a:pt x="207" y="339"/>
                  <a:pt x="207" y="339"/>
                </a:cubicBezTo>
                <a:cubicBezTo>
                  <a:pt x="207" y="368"/>
                  <a:pt x="207" y="412"/>
                  <a:pt x="207" y="442"/>
                </a:cubicBezTo>
                <a:cubicBezTo>
                  <a:pt x="177" y="457"/>
                  <a:pt x="133" y="457"/>
                  <a:pt x="89" y="471"/>
                </a:cubicBezTo>
                <a:close/>
                <a:moveTo>
                  <a:pt x="118" y="501"/>
                </a:moveTo>
                <a:lnTo>
                  <a:pt x="118" y="501"/>
                </a:lnTo>
                <a:cubicBezTo>
                  <a:pt x="148" y="501"/>
                  <a:pt x="192" y="486"/>
                  <a:pt x="221" y="486"/>
                </a:cubicBezTo>
                <a:cubicBezTo>
                  <a:pt x="221" y="515"/>
                  <a:pt x="236" y="560"/>
                  <a:pt x="251" y="589"/>
                </a:cubicBezTo>
                <a:cubicBezTo>
                  <a:pt x="207" y="574"/>
                  <a:pt x="148" y="545"/>
                  <a:pt x="118" y="501"/>
                </a:cubicBezTo>
                <a:close/>
                <a:moveTo>
                  <a:pt x="339" y="589"/>
                </a:moveTo>
                <a:lnTo>
                  <a:pt x="339" y="589"/>
                </a:lnTo>
                <a:lnTo>
                  <a:pt x="324" y="589"/>
                </a:lnTo>
                <a:cubicBezTo>
                  <a:pt x="310" y="589"/>
                  <a:pt x="310" y="589"/>
                  <a:pt x="295" y="589"/>
                </a:cubicBezTo>
                <a:cubicBezTo>
                  <a:pt x="280" y="560"/>
                  <a:pt x="265" y="515"/>
                  <a:pt x="265" y="471"/>
                </a:cubicBezTo>
                <a:cubicBezTo>
                  <a:pt x="280" y="471"/>
                  <a:pt x="295" y="471"/>
                  <a:pt x="324" y="471"/>
                </a:cubicBezTo>
                <a:cubicBezTo>
                  <a:pt x="339" y="471"/>
                  <a:pt x="354" y="471"/>
                  <a:pt x="383" y="471"/>
                </a:cubicBezTo>
                <a:cubicBezTo>
                  <a:pt x="369" y="515"/>
                  <a:pt x="354" y="560"/>
                  <a:pt x="339" y="589"/>
                </a:cubicBezTo>
                <a:close/>
                <a:moveTo>
                  <a:pt x="383" y="589"/>
                </a:moveTo>
                <a:lnTo>
                  <a:pt x="383" y="589"/>
                </a:lnTo>
                <a:cubicBezTo>
                  <a:pt x="398" y="560"/>
                  <a:pt x="412" y="515"/>
                  <a:pt x="412" y="486"/>
                </a:cubicBezTo>
                <a:cubicBezTo>
                  <a:pt x="457" y="486"/>
                  <a:pt x="486" y="501"/>
                  <a:pt x="516" y="501"/>
                </a:cubicBezTo>
                <a:cubicBezTo>
                  <a:pt x="486" y="545"/>
                  <a:pt x="442" y="574"/>
                  <a:pt x="383" y="589"/>
                </a:cubicBezTo>
                <a:close/>
                <a:moveTo>
                  <a:pt x="545" y="471"/>
                </a:moveTo>
                <a:lnTo>
                  <a:pt x="545" y="471"/>
                </a:lnTo>
                <a:cubicBezTo>
                  <a:pt x="516" y="457"/>
                  <a:pt x="471" y="457"/>
                  <a:pt x="427" y="442"/>
                </a:cubicBezTo>
                <a:cubicBezTo>
                  <a:pt x="427" y="412"/>
                  <a:pt x="442" y="368"/>
                  <a:pt x="442" y="339"/>
                </a:cubicBezTo>
                <a:cubicBezTo>
                  <a:pt x="589" y="339"/>
                  <a:pt x="589" y="339"/>
                  <a:pt x="589" y="339"/>
                </a:cubicBezTo>
                <a:cubicBezTo>
                  <a:pt x="589" y="383"/>
                  <a:pt x="574" y="427"/>
                  <a:pt x="545" y="47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/>
          </a:p>
        </p:txBody>
      </p:sp>
      <p:pic>
        <p:nvPicPr>
          <p:cNvPr id="11" name="Picture 10" descr="Screenshot 2024-12-14 at 8.10.47 P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2050" y="1942465"/>
            <a:ext cx="2766060" cy="3089910"/>
          </a:xfrm>
          <a:prstGeom prst="rect">
            <a:avLst/>
          </a:prstGeom>
        </p:spPr>
      </p:pic>
      <p:pic>
        <p:nvPicPr>
          <p:cNvPr id="12" name="Picture 11" descr="Screenshot 2024-12-14 at 8.12.20 P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8110" y="1942465"/>
            <a:ext cx="2352675" cy="3185160"/>
          </a:xfrm>
          <a:prstGeom prst="rect">
            <a:avLst/>
          </a:prstGeom>
        </p:spPr>
      </p:pic>
      <p:sp>
        <p:nvSpPr>
          <p:cNvPr id="13" name="Text Box 12"/>
          <p:cNvSpPr txBox="1"/>
          <p:nvPr/>
        </p:nvSpPr>
        <p:spPr>
          <a:xfrm>
            <a:off x="8340090" y="1689100"/>
            <a:ext cx="2794000" cy="33286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2000"/>
              <a:t>- </a:t>
            </a:r>
            <a:r>
              <a:rPr lang="en-US" sz="2000">
                <a:latin typeface="Arial" panose="020B0704020202020204" pitchFamily="34" charset="0"/>
                <a:cs typeface="Arial" panose="020B0704020202020204" pitchFamily="34" charset="0"/>
              </a:rPr>
              <a:t>Handling Missing values with</a:t>
            </a:r>
            <a:r>
              <a:rPr lang="en-US" sz="2000"/>
              <a:t> </a:t>
            </a:r>
            <a:r>
              <a:rPr lang="en-US" sz="2000" b="1">
                <a:latin typeface="Arial Bold" panose="020B0704020202020204" charset="0"/>
                <a:cs typeface="Arial Bold" panose="020B0704020202020204" charset="0"/>
              </a:rPr>
              <a:t>SimpleImputer</a:t>
            </a:r>
            <a:r>
              <a:rPr lang="en-US" sz="2000"/>
              <a:t>.</a:t>
            </a:r>
            <a:endParaRPr lang="en-US" sz="2000"/>
          </a:p>
          <a:p>
            <a:pPr algn="l"/>
            <a:r>
              <a:rPr lang="en-US" sz="2000">
                <a:latin typeface="Times New Roman Regular" panose="02020603050405020304" charset="0"/>
                <a:cs typeface="Times New Roman Regular" panose="02020603050405020304" charset="0"/>
              </a:rPr>
              <a:t>- Standardizing numerical features using </a:t>
            </a:r>
            <a:r>
              <a:rPr lang="en-US" sz="2000" b="1">
                <a:latin typeface="Times New Roman Regular" panose="02020603050405020304" charset="0"/>
                <a:cs typeface="Times New Roman Regular" panose="02020603050405020304" charset="0"/>
              </a:rPr>
              <a:t>StandardScaler.</a:t>
            </a:r>
            <a:endParaRPr lang="en-US" sz="200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algn="l"/>
            <a:r>
              <a:rPr lang="en-US" sz="2000">
                <a:latin typeface="Times New Roman Regular" panose="02020603050405020304" charset="0"/>
                <a:cs typeface="Times New Roman Regular" panose="02020603050405020304" charset="0"/>
              </a:rPr>
              <a:t>- Encoding categorical features with </a:t>
            </a:r>
            <a:r>
              <a:rPr lang="en-US" sz="2000" b="1">
                <a:latin typeface="Times New Roman Regular" panose="02020603050405020304" charset="0"/>
                <a:cs typeface="Times New Roman Regular" panose="02020603050405020304" charset="0"/>
              </a:rPr>
              <a:t>OneHotEncoder.</a:t>
            </a:r>
            <a:endParaRPr lang="en-US" sz="200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algn="l"/>
            <a:r>
              <a:rPr lang="en-US" sz="2000">
                <a:latin typeface="Times New Roman Regular" panose="02020603050405020304" charset="0"/>
                <a:cs typeface="Times New Roman Regular" panose="02020603050405020304" charset="0"/>
              </a:rPr>
              <a:t>- Verifying consistency and integrity of data post-cleaning.</a:t>
            </a:r>
            <a:endParaRPr lang="en-US" sz="2000">
              <a:latin typeface="Times New Roman Regular" panose="02020603050405020304" charset="0"/>
              <a:cs typeface="Times New Roman Regular" panose="0202060305040502030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A_圆角矩形 9"/>
          <p:cNvSpPr/>
          <p:nvPr>
            <p:custDataLst>
              <p:tags r:id="rId1"/>
            </p:custDataLst>
          </p:nvPr>
        </p:nvSpPr>
        <p:spPr>
          <a:xfrm>
            <a:off x="-1" y="1589564"/>
            <a:ext cx="12192001" cy="3834645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0390" y="805180"/>
            <a:ext cx="6692265" cy="5854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" name="文本框 15"/>
          <p:cNvSpPr txBox="1"/>
          <p:nvPr/>
        </p:nvSpPr>
        <p:spPr>
          <a:xfrm>
            <a:off x="746088" y="475991"/>
            <a:ext cx="397002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EDA - Exploratory Data Analysis</a:t>
            </a:r>
            <a:endParaRPr lang="en-US" altLang="zh-CN" sz="20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289435" y="545974"/>
            <a:ext cx="340519" cy="260145"/>
          </a:xfrm>
          <a:prstGeom prst="rect">
            <a:avLst/>
          </a:prstGeom>
          <a:solidFill>
            <a:schemeClr val="accent1">
              <a:lumMod val="75000"/>
            </a:schemeClr>
          </a:solidFill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850900" y="2780665"/>
            <a:ext cx="3592830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Key Insights: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en-US" altLang="zh-CN" sz="1600" b="1" dirty="0">
                <a:solidFill>
                  <a:schemeClr val="accent1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 Histograms for numerical data.</a:t>
            </a:r>
            <a:endParaRPr lang="en-US" altLang="zh-CN" sz="1600" b="1" dirty="0">
              <a:solidFill>
                <a:schemeClr val="accent1">
                  <a:lumMod val="7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en-US" altLang="zh-CN" sz="1600" b="1" dirty="0">
                <a:solidFill>
                  <a:schemeClr val="accent1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 Scatterplots and correlation heatmaps.</a:t>
            </a:r>
            <a:endParaRPr lang="en-US" altLang="zh-CN" sz="1600" b="1" dirty="0">
              <a:solidFill>
                <a:schemeClr val="accent1">
                  <a:lumMod val="7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850862" y="3920544"/>
            <a:ext cx="5435637" cy="902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1600" b="1" dirty="0">
                <a:solidFill>
                  <a:srgbClr val="595959"/>
                </a:solidFill>
                <a:latin typeface="Hiragino Sans GB W6" panose="020B0300000000000000" charset="-122"/>
                <a:ea typeface="Hiragino Sans GB W6" panose="020B0300000000000000" charset="-122"/>
              </a:rPr>
              <a:t>E</a:t>
            </a:r>
            <a:r>
              <a:rPr lang="en-US" altLang="zh-CN" sz="1400" b="1" dirty="0">
                <a:solidFill>
                  <a:srgbClr val="595959"/>
                </a:solidFill>
                <a:latin typeface="Hiragino Sans GB W6" panose="020B0300000000000000" charset="-122"/>
                <a:ea typeface="Hiragino Sans GB W6" panose="020B0300000000000000" charset="-122"/>
              </a:rPr>
              <a:t>DA Representation:</a:t>
            </a:r>
            <a:endParaRPr lang="en-US" altLang="zh-CN" sz="1400" dirty="0">
              <a:solidFill>
                <a:srgbClr val="595959"/>
              </a:solidFill>
              <a:latin typeface="冬青黑体简体中文 W3" panose="020B0300000000000000" pitchFamily="34" charset="-122"/>
              <a:ea typeface="冬青黑体简体中文 W3" panose="020B0300000000000000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1400" dirty="0">
                <a:solidFill>
                  <a:srgbClr val="595959"/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</a:rPr>
              <a:t>Visualize relationships, e.g., DebtLoadPrincipal vs. Balanceatdebt_load.</a:t>
            </a:r>
            <a:endParaRPr lang="en-US" altLang="zh-CN" sz="1400" dirty="0">
              <a:solidFill>
                <a:srgbClr val="595959"/>
              </a:solidFill>
              <a:latin typeface="冬青黑体简体中文 W3" panose="020B0300000000000000" pitchFamily="34" charset="-122"/>
              <a:ea typeface="冬青黑体简体中文 W3" panose="020B0300000000000000" pitchFamily="34" charset="-122"/>
            </a:endParaRPr>
          </a:p>
        </p:txBody>
      </p:sp>
      <p:cxnSp>
        <p:nvCxnSpPr>
          <p:cNvPr id="25" name="直接连接符 24"/>
          <p:cNvCxnSpPr/>
          <p:nvPr/>
        </p:nvCxnSpPr>
        <p:spPr>
          <a:xfrm>
            <a:off x="850862" y="1942439"/>
            <a:ext cx="394635" cy="0"/>
          </a:xfrm>
          <a:prstGeom prst="line">
            <a:avLst/>
          </a:prstGeom>
          <a:ln w="28575">
            <a:solidFill>
              <a:srgbClr val="2AAE3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/>
          <p:cNvSpPr txBox="1"/>
          <p:nvPr/>
        </p:nvSpPr>
        <p:spPr>
          <a:xfrm>
            <a:off x="850864" y="1950793"/>
            <a:ext cx="3321086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424242"/>
                </a:solidFill>
                <a:latin typeface="Century Gothic" panose="020B0502020202020204" pitchFamily="34" charset="0"/>
                <a:ea typeface="冬青黑体简体中文 W3" panose="020B0300000000000000" pitchFamily="34" charset="-122"/>
              </a:rPr>
              <a:t>EDA Goals:</a:t>
            </a:r>
            <a:endParaRPr lang="en-US" altLang="zh-CN" dirty="0">
              <a:solidFill>
                <a:srgbClr val="424242"/>
              </a:solidFill>
              <a:latin typeface="Century Gothic" panose="020B0502020202020204" pitchFamily="34" charset="0"/>
              <a:ea typeface="冬青黑体简体中文 W3" panose="020B0300000000000000" pitchFamily="34" charset="-122"/>
            </a:endParaRPr>
          </a:p>
          <a:p>
            <a:r>
              <a:rPr lang="en-US" altLang="zh-CN" sz="1000" dirty="0">
                <a:solidFill>
                  <a:srgbClr val="424242"/>
                </a:solidFill>
                <a:latin typeface="Century Gothic" panose="020B0502020202020204" pitchFamily="34" charset="0"/>
                <a:ea typeface="冬青黑体简体中文 W3" panose="020B0300000000000000" pitchFamily="34" charset="-122"/>
              </a:rPr>
              <a:t>- Understand data distribution.</a:t>
            </a:r>
            <a:endParaRPr lang="en-US" altLang="zh-CN" sz="1000" dirty="0">
              <a:solidFill>
                <a:srgbClr val="424242"/>
              </a:solidFill>
              <a:latin typeface="Century Gothic" panose="020B0502020202020204" pitchFamily="34" charset="0"/>
              <a:ea typeface="冬青黑体简体中文 W3" panose="020B0300000000000000" pitchFamily="34" charset="-122"/>
            </a:endParaRPr>
          </a:p>
          <a:p>
            <a:r>
              <a:rPr lang="en-US" altLang="zh-CN" sz="1000" dirty="0">
                <a:solidFill>
                  <a:srgbClr val="424242"/>
                </a:solidFill>
                <a:latin typeface="Century Gothic" panose="020B0502020202020204" pitchFamily="34" charset="0"/>
                <a:ea typeface="冬青黑体简体中文 W3" panose="020B0300000000000000" pitchFamily="34" charset="-122"/>
              </a:rPr>
              <a:t>- Identify correlations and trends.</a:t>
            </a:r>
            <a:endParaRPr lang="en-US" altLang="zh-CN" sz="1000" dirty="0">
              <a:solidFill>
                <a:srgbClr val="424242"/>
              </a:solidFill>
              <a:latin typeface="Century Gothic" panose="020B0502020202020204" pitchFamily="34" charset="0"/>
              <a:ea typeface="冬青黑体简体中文 W3" panose="020B0300000000000000" pitchFamily="34" charset="-122"/>
            </a:endParaRPr>
          </a:p>
          <a:p>
            <a:r>
              <a:rPr lang="en-US" altLang="zh-CN" sz="1000" dirty="0">
                <a:solidFill>
                  <a:srgbClr val="424242"/>
                </a:solidFill>
                <a:latin typeface="Century Gothic" panose="020B0502020202020204" pitchFamily="34" charset="0"/>
                <a:ea typeface="冬青黑体简体中文 W3" panose="020B0300000000000000" pitchFamily="34" charset="-122"/>
              </a:rPr>
              <a:t>- Detect missing values.</a:t>
            </a:r>
            <a:endParaRPr lang="en-US" altLang="zh-CN" sz="1000" dirty="0">
              <a:solidFill>
                <a:srgbClr val="424242"/>
              </a:solidFill>
              <a:latin typeface="Century Gothic" panose="020B0502020202020204" pitchFamily="34" charset="0"/>
              <a:ea typeface="冬青黑体简体中文 W3" panose="020B0300000000000000" pitchFamily="34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553" t="296" r="14905" b="3423"/>
          <a:stretch>
            <a:fillRect/>
          </a:stretch>
        </p:blipFill>
        <p:spPr>
          <a:xfrm>
            <a:off x="7286624" y="1268964"/>
            <a:ext cx="3524251" cy="4758612"/>
          </a:xfrm>
          <a:prstGeom prst="rect">
            <a:avLst/>
          </a:prstGeom>
        </p:spPr>
      </p:pic>
      <p:pic>
        <p:nvPicPr>
          <p:cNvPr id="3" name="Picture 2" descr="Screenshot 2024-12-14 at 8.27.54 PM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1725" y="1268730"/>
            <a:ext cx="5699760" cy="475805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9" name="图表 38"/>
          <p:cNvGraphicFramePr/>
          <p:nvPr/>
        </p:nvGraphicFramePr>
        <p:xfrm>
          <a:off x="1000125" y="1638300"/>
          <a:ext cx="5267325" cy="44809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40" name="文本框 39"/>
          <p:cNvSpPr txBox="1"/>
          <p:nvPr/>
        </p:nvSpPr>
        <p:spPr>
          <a:xfrm>
            <a:off x="746088" y="475991"/>
            <a:ext cx="516699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EDA Data Visulisation - Transformed Data</a:t>
            </a:r>
            <a:endParaRPr lang="en-US" sz="20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289435" y="545974"/>
            <a:ext cx="340519" cy="260145"/>
          </a:xfrm>
          <a:prstGeom prst="rect">
            <a:avLst/>
          </a:prstGeom>
          <a:solidFill>
            <a:schemeClr val="accent1">
              <a:lumMod val="75000"/>
            </a:schemeClr>
          </a:solidFill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2" name="文本框 41"/>
          <p:cNvSpPr txBox="1"/>
          <p:nvPr/>
        </p:nvSpPr>
        <p:spPr>
          <a:xfrm>
            <a:off x="6877504" y="1411605"/>
            <a:ext cx="4314371" cy="650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800" dirty="0">
                <a:solidFill>
                  <a:srgbClr val="595959"/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  <a:sym typeface="+mn-ea"/>
              </a:rPr>
              <a:t>Data Transformation:</a:t>
            </a:r>
            <a:endParaRPr lang="zh-CN" altLang="en-US" sz="2800">
              <a:solidFill>
                <a:srgbClr val="404040"/>
              </a:solidFill>
              <a:latin typeface="冬青黑体简体中文 W3" panose="020B0300000000000000" pitchFamily="34" charset="-122"/>
              <a:ea typeface="冬青黑体简体中文 W3" panose="020B0300000000000000" pitchFamily="34" charset="-122"/>
            </a:endParaRPr>
          </a:p>
        </p:txBody>
      </p:sp>
      <p:cxnSp>
        <p:nvCxnSpPr>
          <p:cNvPr id="43" name="直接连接符 42"/>
          <p:cNvCxnSpPr/>
          <p:nvPr/>
        </p:nvCxnSpPr>
        <p:spPr>
          <a:xfrm>
            <a:off x="6981515" y="2144985"/>
            <a:ext cx="557426" cy="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矩形 43"/>
          <p:cNvSpPr/>
          <p:nvPr/>
        </p:nvSpPr>
        <p:spPr>
          <a:xfrm>
            <a:off x="6981190" y="2331720"/>
            <a:ext cx="4527550" cy="202946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  <a:sym typeface="+mn-ea"/>
              </a:rPr>
              <a:t>Scale numerical features using StandardScaler or MinMaxScaler.</a:t>
            </a:r>
            <a:endParaRPr lang="en-US" altLang="zh-CN" sz="1600" dirty="0">
              <a:solidFill>
                <a:srgbClr val="595959"/>
              </a:solidFill>
              <a:latin typeface="冬青黑体简体中文 W3" panose="020B0300000000000000" pitchFamily="34" charset="-122"/>
              <a:ea typeface="冬青黑体简体中文 W3" panose="020B0300000000000000" pitchFamily="34" charset="-122"/>
              <a:sym typeface="+mn-ea"/>
            </a:endParaRPr>
          </a:p>
          <a:p>
            <a:pPr>
              <a:lnSpc>
                <a:spcPct val="13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  <a:sym typeface="+mn-ea"/>
              </a:rPr>
              <a:t>Address class imbalance for IsStatBarred using techniques like SMOTE or ADASYN.</a:t>
            </a:r>
            <a:endParaRPr lang="en-US" altLang="zh-CN" sz="1600" dirty="0">
              <a:solidFill>
                <a:srgbClr val="595959"/>
              </a:solidFill>
              <a:latin typeface="冬青黑体简体中文 W3" panose="020B0300000000000000" pitchFamily="34" charset="-122"/>
              <a:ea typeface="冬青黑体简体中文 W3" panose="020B0300000000000000" pitchFamily="34" charset="-122"/>
              <a:sym typeface="+mn-ea"/>
            </a:endParaRPr>
          </a:p>
        </p:txBody>
      </p:sp>
      <p:sp>
        <p:nvSpPr>
          <p:cNvPr id="45" name="Freeform 214"/>
          <p:cNvSpPr>
            <a:spLocks noChangeArrowheads="1"/>
          </p:cNvSpPr>
          <p:nvPr/>
        </p:nvSpPr>
        <p:spPr bwMode="auto">
          <a:xfrm>
            <a:off x="7659025" y="4729097"/>
            <a:ext cx="330200" cy="371475"/>
          </a:xfrm>
          <a:custGeom>
            <a:avLst/>
            <a:gdLst>
              <a:gd name="T0" fmla="*/ 149157 w 545"/>
              <a:gd name="T1" fmla="*/ 131958 h 619"/>
              <a:gd name="T2" fmla="*/ 42720 w 545"/>
              <a:gd name="T3" fmla="*/ 137337 h 619"/>
              <a:gd name="T4" fmla="*/ 149157 w 545"/>
              <a:gd name="T5" fmla="*/ 147736 h 619"/>
              <a:gd name="T6" fmla="*/ 149157 w 545"/>
              <a:gd name="T7" fmla="*/ 131958 h 619"/>
              <a:gd name="T8" fmla="*/ 149157 w 545"/>
              <a:gd name="T9" fmla="*/ 168892 h 619"/>
              <a:gd name="T10" fmla="*/ 42720 w 545"/>
              <a:gd name="T11" fmla="*/ 174271 h 619"/>
              <a:gd name="T12" fmla="*/ 149157 w 545"/>
              <a:gd name="T13" fmla="*/ 179649 h 619"/>
              <a:gd name="T14" fmla="*/ 149157 w 545"/>
              <a:gd name="T15" fmla="*/ 168892 h 619"/>
              <a:gd name="T16" fmla="*/ 170517 w 545"/>
              <a:gd name="T17" fmla="*/ 26535 h 619"/>
              <a:gd name="T18" fmla="*/ 149157 w 545"/>
              <a:gd name="T19" fmla="*/ 10399 h 619"/>
              <a:gd name="T20" fmla="*/ 95938 w 545"/>
              <a:gd name="T21" fmla="*/ 0 h 619"/>
              <a:gd name="T22" fmla="*/ 47788 w 545"/>
              <a:gd name="T23" fmla="*/ 10399 h 619"/>
              <a:gd name="T24" fmla="*/ 26428 w 545"/>
              <a:gd name="T25" fmla="*/ 26535 h 619"/>
              <a:gd name="T26" fmla="*/ 0 w 545"/>
              <a:gd name="T27" fmla="*/ 195427 h 619"/>
              <a:gd name="T28" fmla="*/ 170517 w 545"/>
              <a:gd name="T29" fmla="*/ 221603 h 619"/>
              <a:gd name="T30" fmla="*/ 196945 w 545"/>
              <a:gd name="T31" fmla="*/ 52711 h 619"/>
              <a:gd name="T32" fmla="*/ 64080 w 545"/>
              <a:gd name="T33" fmla="*/ 26535 h 619"/>
              <a:gd name="T34" fmla="*/ 80009 w 545"/>
              <a:gd name="T35" fmla="*/ 26535 h 619"/>
              <a:gd name="T36" fmla="*/ 117298 w 545"/>
              <a:gd name="T37" fmla="*/ 26535 h 619"/>
              <a:gd name="T38" fmla="*/ 133227 w 545"/>
              <a:gd name="T39" fmla="*/ 52711 h 619"/>
              <a:gd name="T40" fmla="*/ 64080 w 545"/>
              <a:gd name="T41" fmla="*/ 26535 h 619"/>
              <a:gd name="T42" fmla="*/ 181016 w 545"/>
              <a:gd name="T43" fmla="*/ 195427 h 619"/>
              <a:gd name="T44" fmla="*/ 26428 w 545"/>
              <a:gd name="T45" fmla="*/ 211205 h 619"/>
              <a:gd name="T46" fmla="*/ 10499 w 545"/>
              <a:gd name="T47" fmla="*/ 52711 h 619"/>
              <a:gd name="T48" fmla="*/ 47788 w 545"/>
              <a:gd name="T49" fmla="*/ 42313 h 619"/>
              <a:gd name="T50" fmla="*/ 149157 w 545"/>
              <a:gd name="T51" fmla="*/ 68848 h 619"/>
              <a:gd name="T52" fmla="*/ 170517 w 545"/>
              <a:gd name="T53" fmla="*/ 42313 h 619"/>
              <a:gd name="T54" fmla="*/ 181016 w 545"/>
              <a:gd name="T55" fmla="*/ 195427 h 619"/>
              <a:gd name="T56" fmla="*/ 149157 w 545"/>
              <a:gd name="T57" fmla="*/ 95024 h 619"/>
              <a:gd name="T58" fmla="*/ 42720 w 545"/>
              <a:gd name="T59" fmla="*/ 105782 h 619"/>
              <a:gd name="T60" fmla="*/ 149157 w 545"/>
              <a:gd name="T61" fmla="*/ 110802 h 619"/>
              <a:gd name="T62" fmla="*/ 149157 w 545"/>
              <a:gd name="T63" fmla="*/ 95024 h 619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</a:gdLst>
            <a:ahLst/>
            <a:cxnLst>
              <a:cxn ang="T64">
                <a:pos x="T0" y="T1"/>
              </a:cxn>
              <a:cxn ang="T65">
                <a:pos x="T2" y="T3"/>
              </a:cxn>
              <a:cxn ang="T66">
                <a:pos x="T4" y="T5"/>
              </a:cxn>
              <a:cxn ang="T67">
                <a:pos x="T6" y="T7"/>
              </a:cxn>
              <a:cxn ang="T68">
                <a:pos x="T8" y="T9"/>
              </a:cxn>
              <a:cxn ang="T69">
                <a:pos x="T10" y="T11"/>
              </a:cxn>
              <a:cxn ang="T70">
                <a:pos x="T12" y="T13"/>
              </a:cxn>
              <a:cxn ang="T71">
                <a:pos x="T14" y="T15"/>
              </a:cxn>
              <a:cxn ang="T72">
                <a:pos x="T16" y="T17"/>
              </a:cxn>
              <a:cxn ang="T73">
                <a:pos x="T18" y="T19"/>
              </a:cxn>
              <a:cxn ang="T74">
                <a:pos x="T20" y="T21"/>
              </a:cxn>
              <a:cxn ang="T75">
                <a:pos x="T22" y="T23"/>
              </a:cxn>
              <a:cxn ang="T76">
                <a:pos x="T24" y="T25"/>
              </a:cxn>
              <a:cxn ang="T77">
                <a:pos x="T26" y="T27"/>
              </a:cxn>
              <a:cxn ang="T78">
                <a:pos x="T28" y="T29"/>
              </a:cxn>
              <a:cxn ang="T79">
                <a:pos x="T30" y="T31"/>
              </a:cxn>
              <a:cxn ang="T80">
                <a:pos x="T32" y="T33"/>
              </a:cxn>
              <a:cxn ang="T81">
                <a:pos x="T34" y="T35"/>
              </a:cxn>
              <a:cxn ang="T82">
                <a:pos x="T36" y="T37"/>
              </a:cxn>
              <a:cxn ang="T83">
                <a:pos x="T38" y="T39"/>
              </a:cxn>
              <a:cxn ang="T84">
                <a:pos x="T40" y="T41"/>
              </a:cxn>
              <a:cxn ang="T85">
                <a:pos x="T42" y="T43"/>
              </a:cxn>
              <a:cxn ang="T86">
                <a:pos x="T44" y="T45"/>
              </a:cxn>
              <a:cxn ang="T87">
                <a:pos x="T46" y="T47"/>
              </a:cxn>
              <a:cxn ang="T88">
                <a:pos x="T48" y="T49"/>
              </a:cxn>
              <a:cxn ang="T89">
                <a:pos x="T50" y="T51"/>
              </a:cxn>
              <a:cxn ang="T90">
                <a:pos x="T52" y="T53"/>
              </a:cxn>
              <a:cxn ang="T91">
                <a:pos x="T54" y="T55"/>
              </a:cxn>
              <a:cxn ang="T92">
                <a:pos x="T56" y="T57"/>
              </a:cxn>
              <a:cxn ang="T93">
                <a:pos x="T58" y="T59"/>
              </a:cxn>
              <a:cxn ang="T94">
                <a:pos x="T60" y="T61"/>
              </a:cxn>
              <a:cxn ang="T95">
                <a:pos x="T62" y="T63"/>
              </a:cxn>
            </a:cxnLst>
            <a:rect l="0" t="0" r="r" b="b"/>
            <a:pathLst>
              <a:path w="545" h="619">
                <a:moveTo>
                  <a:pt x="412" y="368"/>
                </a:moveTo>
                <a:lnTo>
                  <a:pt x="412" y="368"/>
                </a:lnTo>
                <a:cubicBezTo>
                  <a:pt x="132" y="368"/>
                  <a:pt x="132" y="368"/>
                  <a:pt x="132" y="368"/>
                </a:cubicBezTo>
                <a:cubicBezTo>
                  <a:pt x="118" y="368"/>
                  <a:pt x="118" y="383"/>
                  <a:pt x="118" y="383"/>
                </a:cubicBezTo>
                <a:cubicBezTo>
                  <a:pt x="118" y="398"/>
                  <a:pt x="118" y="412"/>
                  <a:pt x="132" y="412"/>
                </a:cubicBezTo>
                <a:cubicBezTo>
                  <a:pt x="412" y="412"/>
                  <a:pt x="412" y="412"/>
                  <a:pt x="412" y="412"/>
                </a:cubicBezTo>
                <a:cubicBezTo>
                  <a:pt x="412" y="412"/>
                  <a:pt x="427" y="398"/>
                  <a:pt x="427" y="383"/>
                </a:cubicBezTo>
                <a:lnTo>
                  <a:pt x="412" y="368"/>
                </a:lnTo>
                <a:close/>
                <a:moveTo>
                  <a:pt x="412" y="471"/>
                </a:moveTo>
                <a:lnTo>
                  <a:pt x="412" y="471"/>
                </a:lnTo>
                <a:cubicBezTo>
                  <a:pt x="132" y="471"/>
                  <a:pt x="132" y="471"/>
                  <a:pt x="132" y="471"/>
                </a:cubicBezTo>
                <a:cubicBezTo>
                  <a:pt x="118" y="471"/>
                  <a:pt x="118" y="471"/>
                  <a:pt x="118" y="486"/>
                </a:cubicBezTo>
                <a:cubicBezTo>
                  <a:pt x="118" y="501"/>
                  <a:pt x="118" y="501"/>
                  <a:pt x="132" y="501"/>
                </a:cubicBezTo>
                <a:cubicBezTo>
                  <a:pt x="412" y="501"/>
                  <a:pt x="412" y="501"/>
                  <a:pt x="412" y="501"/>
                </a:cubicBezTo>
                <a:cubicBezTo>
                  <a:pt x="412" y="501"/>
                  <a:pt x="427" y="501"/>
                  <a:pt x="427" y="486"/>
                </a:cubicBezTo>
                <a:cubicBezTo>
                  <a:pt x="427" y="471"/>
                  <a:pt x="412" y="471"/>
                  <a:pt x="412" y="471"/>
                </a:cubicBezTo>
                <a:close/>
                <a:moveTo>
                  <a:pt x="471" y="74"/>
                </a:moveTo>
                <a:lnTo>
                  <a:pt x="471" y="74"/>
                </a:lnTo>
                <a:cubicBezTo>
                  <a:pt x="412" y="74"/>
                  <a:pt x="412" y="74"/>
                  <a:pt x="412" y="74"/>
                </a:cubicBezTo>
                <a:cubicBezTo>
                  <a:pt x="412" y="29"/>
                  <a:pt x="412" y="29"/>
                  <a:pt x="412" y="29"/>
                </a:cubicBezTo>
                <a:cubicBezTo>
                  <a:pt x="353" y="29"/>
                  <a:pt x="353" y="29"/>
                  <a:pt x="353" y="29"/>
                </a:cubicBezTo>
                <a:cubicBezTo>
                  <a:pt x="339" y="15"/>
                  <a:pt x="309" y="0"/>
                  <a:pt x="265" y="0"/>
                </a:cubicBezTo>
                <a:cubicBezTo>
                  <a:pt x="235" y="0"/>
                  <a:pt x="206" y="15"/>
                  <a:pt x="191" y="29"/>
                </a:cubicBezTo>
                <a:cubicBezTo>
                  <a:pt x="132" y="29"/>
                  <a:pt x="132" y="29"/>
                  <a:pt x="132" y="29"/>
                </a:cubicBezTo>
                <a:cubicBezTo>
                  <a:pt x="132" y="74"/>
                  <a:pt x="132" y="74"/>
                  <a:pt x="132" y="74"/>
                </a:cubicBezTo>
                <a:cubicBezTo>
                  <a:pt x="73" y="74"/>
                  <a:pt x="73" y="74"/>
                  <a:pt x="73" y="74"/>
                </a:cubicBezTo>
                <a:cubicBezTo>
                  <a:pt x="29" y="74"/>
                  <a:pt x="0" y="103"/>
                  <a:pt x="0" y="147"/>
                </a:cubicBezTo>
                <a:cubicBezTo>
                  <a:pt x="0" y="545"/>
                  <a:pt x="0" y="545"/>
                  <a:pt x="0" y="545"/>
                </a:cubicBezTo>
                <a:cubicBezTo>
                  <a:pt x="0" y="589"/>
                  <a:pt x="29" y="618"/>
                  <a:pt x="73" y="618"/>
                </a:cubicBezTo>
                <a:cubicBezTo>
                  <a:pt x="471" y="618"/>
                  <a:pt x="471" y="618"/>
                  <a:pt x="471" y="618"/>
                </a:cubicBezTo>
                <a:cubicBezTo>
                  <a:pt x="515" y="618"/>
                  <a:pt x="544" y="589"/>
                  <a:pt x="544" y="545"/>
                </a:cubicBezTo>
                <a:cubicBezTo>
                  <a:pt x="544" y="147"/>
                  <a:pt x="544" y="147"/>
                  <a:pt x="544" y="147"/>
                </a:cubicBezTo>
                <a:cubicBezTo>
                  <a:pt x="544" y="103"/>
                  <a:pt x="515" y="74"/>
                  <a:pt x="471" y="74"/>
                </a:cubicBezTo>
                <a:close/>
                <a:moveTo>
                  <a:pt x="177" y="74"/>
                </a:moveTo>
                <a:lnTo>
                  <a:pt x="177" y="74"/>
                </a:lnTo>
                <a:cubicBezTo>
                  <a:pt x="221" y="74"/>
                  <a:pt x="221" y="74"/>
                  <a:pt x="221" y="74"/>
                </a:cubicBezTo>
                <a:cubicBezTo>
                  <a:pt x="221" y="59"/>
                  <a:pt x="235" y="29"/>
                  <a:pt x="265" y="29"/>
                </a:cubicBezTo>
                <a:cubicBezTo>
                  <a:pt x="294" y="29"/>
                  <a:pt x="324" y="59"/>
                  <a:pt x="324" y="74"/>
                </a:cubicBezTo>
                <a:cubicBezTo>
                  <a:pt x="368" y="74"/>
                  <a:pt x="368" y="74"/>
                  <a:pt x="368" y="74"/>
                </a:cubicBezTo>
                <a:cubicBezTo>
                  <a:pt x="368" y="147"/>
                  <a:pt x="368" y="147"/>
                  <a:pt x="368" y="147"/>
                </a:cubicBezTo>
                <a:cubicBezTo>
                  <a:pt x="177" y="147"/>
                  <a:pt x="177" y="147"/>
                  <a:pt x="177" y="147"/>
                </a:cubicBezTo>
                <a:lnTo>
                  <a:pt x="177" y="74"/>
                </a:lnTo>
                <a:close/>
                <a:moveTo>
                  <a:pt x="500" y="545"/>
                </a:moveTo>
                <a:lnTo>
                  <a:pt x="500" y="545"/>
                </a:lnTo>
                <a:cubicBezTo>
                  <a:pt x="500" y="559"/>
                  <a:pt x="486" y="589"/>
                  <a:pt x="471" y="589"/>
                </a:cubicBezTo>
                <a:cubicBezTo>
                  <a:pt x="73" y="589"/>
                  <a:pt x="73" y="589"/>
                  <a:pt x="73" y="589"/>
                </a:cubicBezTo>
                <a:cubicBezTo>
                  <a:pt x="59" y="589"/>
                  <a:pt x="29" y="559"/>
                  <a:pt x="29" y="545"/>
                </a:cubicBezTo>
                <a:cubicBezTo>
                  <a:pt x="29" y="147"/>
                  <a:pt x="29" y="147"/>
                  <a:pt x="29" y="147"/>
                </a:cubicBezTo>
                <a:cubicBezTo>
                  <a:pt x="29" y="133"/>
                  <a:pt x="59" y="118"/>
                  <a:pt x="73" y="118"/>
                </a:cubicBezTo>
                <a:cubicBezTo>
                  <a:pt x="132" y="118"/>
                  <a:pt x="132" y="118"/>
                  <a:pt x="132" y="118"/>
                </a:cubicBezTo>
                <a:cubicBezTo>
                  <a:pt x="132" y="192"/>
                  <a:pt x="132" y="192"/>
                  <a:pt x="132" y="192"/>
                </a:cubicBezTo>
                <a:cubicBezTo>
                  <a:pt x="412" y="192"/>
                  <a:pt x="412" y="192"/>
                  <a:pt x="412" y="192"/>
                </a:cubicBezTo>
                <a:cubicBezTo>
                  <a:pt x="412" y="118"/>
                  <a:pt x="412" y="118"/>
                  <a:pt x="412" y="118"/>
                </a:cubicBezTo>
                <a:cubicBezTo>
                  <a:pt x="471" y="118"/>
                  <a:pt x="471" y="118"/>
                  <a:pt x="471" y="118"/>
                </a:cubicBezTo>
                <a:cubicBezTo>
                  <a:pt x="486" y="118"/>
                  <a:pt x="500" y="133"/>
                  <a:pt x="500" y="147"/>
                </a:cubicBezTo>
                <a:lnTo>
                  <a:pt x="500" y="545"/>
                </a:lnTo>
                <a:close/>
                <a:moveTo>
                  <a:pt x="412" y="265"/>
                </a:moveTo>
                <a:lnTo>
                  <a:pt x="412" y="265"/>
                </a:lnTo>
                <a:cubicBezTo>
                  <a:pt x="132" y="265"/>
                  <a:pt x="132" y="265"/>
                  <a:pt x="132" y="265"/>
                </a:cubicBezTo>
                <a:cubicBezTo>
                  <a:pt x="118" y="265"/>
                  <a:pt x="118" y="280"/>
                  <a:pt x="118" y="295"/>
                </a:cubicBezTo>
                <a:cubicBezTo>
                  <a:pt x="118" y="295"/>
                  <a:pt x="118" y="309"/>
                  <a:pt x="132" y="309"/>
                </a:cubicBezTo>
                <a:cubicBezTo>
                  <a:pt x="412" y="309"/>
                  <a:pt x="412" y="309"/>
                  <a:pt x="412" y="309"/>
                </a:cubicBezTo>
                <a:lnTo>
                  <a:pt x="427" y="295"/>
                </a:lnTo>
                <a:cubicBezTo>
                  <a:pt x="427" y="280"/>
                  <a:pt x="412" y="265"/>
                  <a:pt x="412" y="265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  <a:effectLst/>
        </p:spPr>
        <p:txBody>
          <a:bodyPr wrap="none" lIns="91431" tIns="45716" rIns="91431" bIns="45716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46" name="Freeform 218"/>
          <p:cNvSpPr>
            <a:spLocks noChangeArrowheads="1"/>
          </p:cNvSpPr>
          <p:nvPr/>
        </p:nvSpPr>
        <p:spPr bwMode="auto">
          <a:xfrm>
            <a:off x="6981787" y="4741732"/>
            <a:ext cx="265113" cy="371475"/>
          </a:xfrm>
          <a:custGeom>
            <a:avLst/>
            <a:gdLst>
              <a:gd name="T0" fmla="*/ 121225 w 443"/>
              <a:gd name="T1" fmla="*/ 110802 h 619"/>
              <a:gd name="T2" fmla="*/ 121225 w 443"/>
              <a:gd name="T3" fmla="*/ 110802 h 619"/>
              <a:gd name="T4" fmla="*/ 36832 w 443"/>
              <a:gd name="T5" fmla="*/ 110802 h 619"/>
              <a:gd name="T6" fmla="*/ 31826 w 443"/>
              <a:gd name="T7" fmla="*/ 116180 h 619"/>
              <a:gd name="T8" fmla="*/ 36832 w 443"/>
              <a:gd name="T9" fmla="*/ 126938 h 619"/>
              <a:gd name="T10" fmla="*/ 121225 w 443"/>
              <a:gd name="T11" fmla="*/ 126938 h 619"/>
              <a:gd name="T12" fmla="*/ 126231 w 443"/>
              <a:gd name="T13" fmla="*/ 116180 h 619"/>
              <a:gd name="T14" fmla="*/ 121225 w 443"/>
              <a:gd name="T15" fmla="*/ 110802 h 619"/>
              <a:gd name="T16" fmla="*/ 121225 w 443"/>
              <a:gd name="T17" fmla="*/ 153114 h 619"/>
              <a:gd name="T18" fmla="*/ 121225 w 443"/>
              <a:gd name="T19" fmla="*/ 153114 h 619"/>
              <a:gd name="T20" fmla="*/ 36832 w 443"/>
              <a:gd name="T21" fmla="*/ 153114 h 619"/>
              <a:gd name="T22" fmla="*/ 31826 w 443"/>
              <a:gd name="T23" fmla="*/ 158493 h 619"/>
              <a:gd name="T24" fmla="*/ 36832 w 443"/>
              <a:gd name="T25" fmla="*/ 168892 h 619"/>
              <a:gd name="T26" fmla="*/ 121225 w 443"/>
              <a:gd name="T27" fmla="*/ 168892 h 619"/>
              <a:gd name="T28" fmla="*/ 126231 w 443"/>
              <a:gd name="T29" fmla="*/ 158493 h 619"/>
              <a:gd name="T30" fmla="*/ 121225 w 443"/>
              <a:gd name="T31" fmla="*/ 153114 h 619"/>
              <a:gd name="T32" fmla="*/ 121225 w 443"/>
              <a:gd name="T33" fmla="*/ 68848 h 619"/>
              <a:gd name="T34" fmla="*/ 121225 w 443"/>
              <a:gd name="T35" fmla="*/ 68848 h 619"/>
              <a:gd name="T36" fmla="*/ 36832 w 443"/>
              <a:gd name="T37" fmla="*/ 68848 h 619"/>
              <a:gd name="T38" fmla="*/ 31826 w 443"/>
              <a:gd name="T39" fmla="*/ 73868 h 619"/>
              <a:gd name="T40" fmla="*/ 36832 w 443"/>
              <a:gd name="T41" fmla="*/ 84625 h 619"/>
              <a:gd name="T42" fmla="*/ 121225 w 443"/>
              <a:gd name="T43" fmla="*/ 84625 h 619"/>
              <a:gd name="T44" fmla="*/ 126231 w 443"/>
              <a:gd name="T45" fmla="*/ 73868 h 619"/>
              <a:gd name="T46" fmla="*/ 121225 w 443"/>
              <a:gd name="T47" fmla="*/ 68848 h 619"/>
              <a:gd name="T48" fmla="*/ 126231 w 443"/>
              <a:gd name="T49" fmla="*/ 10399 h 619"/>
              <a:gd name="T50" fmla="*/ 126231 w 443"/>
              <a:gd name="T51" fmla="*/ 10399 h 619"/>
              <a:gd name="T52" fmla="*/ 126231 w 443"/>
              <a:gd name="T53" fmla="*/ 0 h 619"/>
              <a:gd name="T54" fmla="*/ 115861 w 443"/>
              <a:gd name="T55" fmla="*/ 0 h 619"/>
              <a:gd name="T56" fmla="*/ 115861 w 443"/>
              <a:gd name="T57" fmla="*/ 10399 h 619"/>
              <a:gd name="T58" fmla="*/ 84393 w 443"/>
              <a:gd name="T59" fmla="*/ 10399 h 619"/>
              <a:gd name="T60" fmla="*/ 84393 w 443"/>
              <a:gd name="T61" fmla="*/ 0 h 619"/>
              <a:gd name="T62" fmla="*/ 73665 w 443"/>
              <a:gd name="T63" fmla="*/ 0 h 619"/>
              <a:gd name="T64" fmla="*/ 73665 w 443"/>
              <a:gd name="T65" fmla="*/ 10399 h 619"/>
              <a:gd name="T66" fmla="*/ 42196 w 443"/>
              <a:gd name="T67" fmla="*/ 10399 h 619"/>
              <a:gd name="T68" fmla="*/ 42196 w 443"/>
              <a:gd name="T69" fmla="*/ 0 h 619"/>
              <a:gd name="T70" fmla="*/ 31826 w 443"/>
              <a:gd name="T71" fmla="*/ 0 h 619"/>
              <a:gd name="T72" fmla="*/ 31826 w 443"/>
              <a:gd name="T73" fmla="*/ 10399 h 619"/>
              <a:gd name="T74" fmla="*/ 0 w 443"/>
              <a:gd name="T75" fmla="*/ 42313 h 619"/>
              <a:gd name="T76" fmla="*/ 0 w 443"/>
              <a:gd name="T77" fmla="*/ 195427 h 619"/>
              <a:gd name="T78" fmla="*/ 31826 w 443"/>
              <a:gd name="T79" fmla="*/ 221603 h 619"/>
              <a:gd name="T80" fmla="*/ 126231 w 443"/>
              <a:gd name="T81" fmla="*/ 221603 h 619"/>
              <a:gd name="T82" fmla="*/ 158057 w 443"/>
              <a:gd name="T83" fmla="*/ 195427 h 619"/>
              <a:gd name="T84" fmla="*/ 158057 w 443"/>
              <a:gd name="T85" fmla="*/ 42313 h 619"/>
              <a:gd name="T86" fmla="*/ 126231 w 443"/>
              <a:gd name="T87" fmla="*/ 10399 h 619"/>
              <a:gd name="T88" fmla="*/ 142323 w 443"/>
              <a:gd name="T89" fmla="*/ 195427 h 619"/>
              <a:gd name="T90" fmla="*/ 142323 w 443"/>
              <a:gd name="T91" fmla="*/ 195427 h 619"/>
              <a:gd name="T92" fmla="*/ 126231 w 443"/>
              <a:gd name="T93" fmla="*/ 211205 h 619"/>
              <a:gd name="T94" fmla="*/ 31826 w 443"/>
              <a:gd name="T95" fmla="*/ 211205 h 619"/>
              <a:gd name="T96" fmla="*/ 15734 w 443"/>
              <a:gd name="T97" fmla="*/ 195427 h 619"/>
              <a:gd name="T98" fmla="*/ 15734 w 443"/>
              <a:gd name="T99" fmla="*/ 42313 h 619"/>
              <a:gd name="T100" fmla="*/ 31826 w 443"/>
              <a:gd name="T101" fmla="*/ 26535 h 619"/>
              <a:gd name="T102" fmla="*/ 126231 w 443"/>
              <a:gd name="T103" fmla="*/ 26535 h 619"/>
              <a:gd name="T104" fmla="*/ 142323 w 443"/>
              <a:gd name="T105" fmla="*/ 42313 h 619"/>
              <a:gd name="T106" fmla="*/ 142323 w 443"/>
              <a:gd name="T107" fmla="*/ 195427 h 619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</a:gdLst>
            <a:ahLst/>
            <a:cxnLst>
              <a:cxn ang="T108">
                <a:pos x="T0" y="T1"/>
              </a:cxn>
              <a:cxn ang="T109">
                <a:pos x="T2" y="T3"/>
              </a:cxn>
              <a:cxn ang="T110">
                <a:pos x="T4" y="T5"/>
              </a:cxn>
              <a:cxn ang="T111">
                <a:pos x="T6" y="T7"/>
              </a:cxn>
              <a:cxn ang="T112">
                <a:pos x="T8" y="T9"/>
              </a:cxn>
              <a:cxn ang="T113">
                <a:pos x="T10" y="T11"/>
              </a:cxn>
              <a:cxn ang="T114">
                <a:pos x="T12" y="T13"/>
              </a:cxn>
              <a:cxn ang="T115">
                <a:pos x="T14" y="T15"/>
              </a:cxn>
              <a:cxn ang="T116">
                <a:pos x="T16" y="T17"/>
              </a:cxn>
              <a:cxn ang="T117">
                <a:pos x="T18" y="T19"/>
              </a:cxn>
              <a:cxn ang="T118">
                <a:pos x="T20" y="T21"/>
              </a:cxn>
              <a:cxn ang="T119">
                <a:pos x="T22" y="T23"/>
              </a:cxn>
              <a:cxn ang="T120">
                <a:pos x="T24" y="T25"/>
              </a:cxn>
              <a:cxn ang="T121">
                <a:pos x="T26" y="T27"/>
              </a:cxn>
              <a:cxn ang="T122">
                <a:pos x="T28" y="T29"/>
              </a:cxn>
              <a:cxn ang="T123">
                <a:pos x="T30" y="T31"/>
              </a:cxn>
              <a:cxn ang="T124">
                <a:pos x="T32" y="T33"/>
              </a:cxn>
              <a:cxn ang="T125">
                <a:pos x="T34" y="T35"/>
              </a:cxn>
              <a:cxn ang="T126">
                <a:pos x="T36" y="T37"/>
              </a:cxn>
              <a:cxn ang="T127">
                <a:pos x="T38" y="T39"/>
              </a:cxn>
              <a:cxn ang="T128">
                <a:pos x="T40" y="T41"/>
              </a:cxn>
              <a:cxn ang="T129">
                <a:pos x="T42" y="T43"/>
              </a:cxn>
              <a:cxn ang="T130">
                <a:pos x="T44" y="T45"/>
              </a:cxn>
              <a:cxn ang="T131">
                <a:pos x="T46" y="T47"/>
              </a:cxn>
              <a:cxn ang="T132">
                <a:pos x="T48" y="T49"/>
              </a:cxn>
              <a:cxn ang="T133">
                <a:pos x="T50" y="T51"/>
              </a:cxn>
              <a:cxn ang="T134">
                <a:pos x="T52" y="T53"/>
              </a:cxn>
              <a:cxn ang="T135">
                <a:pos x="T54" y="T55"/>
              </a:cxn>
              <a:cxn ang="T136">
                <a:pos x="T56" y="T57"/>
              </a:cxn>
              <a:cxn ang="T137">
                <a:pos x="T58" y="T59"/>
              </a:cxn>
              <a:cxn ang="T138">
                <a:pos x="T60" y="T61"/>
              </a:cxn>
              <a:cxn ang="T139">
                <a:pos x="T62" y="T63"/>
              </a:cxn>
              <a:cxn ang="T140">
                <a:pos x="T64" y="T65"/>
              </a:cxn>
              <a:cxn ang="T141">
                <a:pos x="T66" y="T67"/>
              </a:cxn>
              <a:cxn ang="T142">
                <a:pos x="T68" y="T69"/>
              </a:cxn>
              <a:cxn ang="T143">
                <a:pos x="T70" y="T71"/>
              </a:cxn>
              <a:cxn ang="T144">
                <a:pos x="T72" y="T73"/>
              </a:cxn>
              <a:cxn ang="T145">
                <a:pos x="T74" y="T75"/>
              </a:cxn>
              <a:cxn ang="T146">
                <a:pos x="T76" y="T77"/>
              </a:cxn>
              <a:cxn ang="T147">
                <a:pos x="T78" y="T79"/>
              </a:cxn>
              <a:cxn ang="T148">
                <a:pos x="T80" y="T81"/>
              </a:cxn>
              <a:cxn ang="T149">
                <a:pos x="T82" y="T83"/>
              </a:cxn>
              <a:cxn ang="T150">
                <a:pos x="T84" y="T85"/>
              </a:cxn>
              <a:cxn ang="T151">
                <a:pos x="T86" y="T87"/>
              </a:cxn>
              <a:cxn ang="T152">
                <a:pos x="T88" y="T89"/>
              </a:cxn>
              <a:cxn ang="T153">
                <a:pos x="T90" y="T91"/>
              </a:cxn>
              <a:cxn ang="T154">
                <a:pos x="T92" y="T93"/>
              </a:cxn>
              <a:cxn ang="T155">
                <a:pos x="T94" y="T95"/>
              </a:cxn>
              <a:cxn ang="T156">
                <a:pos x="T96" y="T97"/>
              </a:cxn>
              <a:cxn ang="T157">
                <a:pos x="T98" y="T99"/>
              </a:cxn>
              <a:cxn ang="T158">
                <a:pos x="T100" y="T101"/>
              </a:cxn>
              <a:cxn ang="T159">
                <a:pos x="T102" y="T103"/>
              </a:cxn>
              <a:cxn ang="T160">
                <a:pos x="T104" y="T105"/>
              </a:cxn>
              <a:cxn ang="T161">
                <a:pos x="T106" y="T107"/>
              </a:cxn>
            </a:cxnLst>
            <a:rect l="0" t="0" r="r" b="b"/>
            <a:pathLst>
              <a:path w="443" h="619">
                <a:moveTo>
                  <a:pt x="339" y="309"/>
                </a:moveTo>
                <a:lnTo>
                  <a:pt x="339" y="309"/>
                </a:lnTo>
                <a:cubicBezTo>
                  <a:pt x="103" y="309"/>
                  <a:pt x="103" y="309"/>
                  <a:pt x="103" y="309"/>
                </a:cubicBezTo>
                <a:cubicBezTo>
                  <a:pt x="89" y="309"/>
                  <a:pt x="89" y="324"/>
                  <a:pt x="89" y="324"/>
                </a:cubicBezTo>
                <a:cubicBezTo>
                  <a:pt x="89" y="339"/>
                  <a:pt x="89" y="354"/>
                  <a:pt x="103" y="354"/>
                </a:cubicBezTo>
                <a:cubicBezTo>
                  <a:pt x="339" y="354"/>
                  <a:pt x="339" y="354"/>
                  <a:pt x="339" y="354"/>
                </a:cubicBezTo>
                <a:cubicBezTo>
                  <a:pt x="353" y="354"/>
                  <a:pt x="353" y="339"/>
                  <a:pt x="353" y="324"/>
                </a:cubicBezTo>
                <a:cubicBezTo>
                  <a:pt x="353" y="324"/>
                  <a:pt x="353" y="309"/>
                  <a:pt x="339" y="309"/>
                </a:cubicBezTo>
                <a:close/>
                <a:moveTo>
                  <a:pt x="339" y="427"/>
                </a:moveTo>
                <a:lnTo>
                  <a:pt x="339" y="427"/>
                </a:lnTo>
                <a:cubicBezTo>
                  <a:pt x="103" y="427"/>
                  <a:pt x="103" y="427"/>
                  <a:pt x="103" y="427"/>
                </a:cubicBezTo>
                <a:cubicBezTo>
                  <a:pt x="89" y="427"/>
                  <a:pt x="89" y="442"/>
                  <a:pt x="89" y="442"/>
                </a:cubicBezTo>
                <a:cubicBezTo>
                  <a:pt x="89" y="457"/>
                  <a:pt x="89" y="471"/>
                  <a:pt x="103" y="471"/>
                </a:cubicBezTo>
                <a:cubicBezTo>
                  <a:pt x="339" y="471"/>
                  <a:pt x="339" y="471"/>
                  <a:pt x="339" y="471"/>
                </a:cubicBezTo>
                <a:cubicBezTo>
                  <a:pt x="353" y="471"/>
                  <a:pt x="353" y="457"/>
                  <a:pt x="353" y="442"/>
                </a:cubicBezTo>
                <a:cubicBezTo>
                  <a:pt x="353" y="442"/>
                  <a:pt x="353" y="427"/>
                  <a:pt x="339" y="427"/>
                </a:cubicBezTo>
                <a:close/>
                <a:moveTo>
                  <a:pt x="339" y="192"/>
                </a:moveTo>
                <a:lnTo>
                  <a:pt x="339" y="192"/>
                </a:lnTo>
                <a:cubicBezTo>
                  <a:pt x="103" y="192"/>
                  <a:pt x="103" y="192"/>
                  <a:pt x="103" y="192"/>
                </a:cubicBezTo>
                <a:cubicBezTo>
                  <a:pt x="89" y="192"/>
                  <a:pt x="89" y="206"/>
                  <a:pt x="89" y="206"/>
                </a:cubicBezTo>
                <a:cubicBezTo>
                  <a:pt x="89" y="221"/>
                  <a:pt x="89" y="236"/>
                  <a:pt x="103" y="236"/>
                </a:cubicBezTo>
                <a:cubicBezTo>
                  <a:pt x="339" y="236"/>
                  <a:pt x="339" y="236"/>
                  <a:pt x="339" y="236"/>
                </a:cubicBezTo>
                <a:cubicBezTo>
                  <a:pt x="353" y="236"/>
                  <a:pt x="353" y="221"/>
                  <a:pt x="353" y="206"/>
                </a:cubicBezTo>
                <a:cubicBezTo>
                  <a:pt x="353" y="206"/>
                  <a:pt x="353" y="192"/>
                  <a:pt x="339" y="192"/>
                </a:cubicBezTo>
                <a:close/>
                <a:moveTo>
                  <a:pt x="353" y="29"/>
                </a:moveTo>
                <a:lnTo>
                  <a:pt x="353" y="29"/>
                </a:lnTo>
                <a:cubicBezTo>
                  <a:pt x="353" y="0"/>
                  <a:pt x="353" y="0"/>
                  <a:pt x="353" y="0"/>
                </a:cubicBezTo>
                <a:cubicBezTo>
                  <a:pt x="324" y="0"/>
                  <a:pt x="324" y="0"/>
                  <a:pt x="324" y="0"/>
                </a:cubicBezTo>
                <a:cubicBezTo>
                  <a:pt x="324" y="29"/>
                  <a:pt x="324" y="29"/>
                  <a:pt x="324" y="29"/>
                </a:cubicBezTo>
                <a:cubicBezTo>
                  <a:pt x="236" y="29"/>
                  <a:pt x="236" y="29"/>
                  <a:pt x="236" y="29"/>
                </a:cubicBezTo>
                <a:cubicBezTo>
                  <a:pt x="236" y="0"/>
                  <a:pt x="236" y="0"/>
                  <a:pt x="236" y="0"/>
                </a:cubicBezTo>
                <a:cubicBezTo>
                  <a:pt x="206" y="0"/>
                  <a:pt x="206" y="0"/>
                  <a:pt x="206" y="0"/>
                </a:cubicBezTo>
                <a:cubicBezTo>
                  <a:pt x="206" y="29"/>
                  <a:pt x="206" y="29"/>
                  <a:pt x="206" y="29"/>
                </a:cubicBezTo>
                <a:cubicBezTo>
                  <a:pt x="118" y="29"/>
                  <a:pt x="118" y="29"/>
                  <a:pt x="118" y="29"/>
                </a:cubicBezTo>
                <a:cubicBezTo>
                  <a:pt x="118" y="0"/>
                  <a:pt x="118" y="0"/>
                  <a:pt x="118" y="0"/>
                </a:cubicBezTo>
                <a:cubicBezTo>
                  <a:pt x="89" y="0"/>
                  <a:pt x="89" y="0"/>
                  <a:pt x="89" y="0"/>
                </a:cubicBezTo>
                <a:cubicBezTo>
                  <a:pt x="89" y="29"/>
                  <a:pt x="89" y="29"/>
                  <a:pt x="89" y="29"/>
                </a:cubicBezTo>
                <a:cubicBezTo>
                  <a:pt x="44" y="29"/>
                  <a:pt x="0" y="74"/>
                  <a:pt x="0" y="118"/>
                </a:cubicBezTo>
                <a:cubicBezTo>
                  <a:pt x="0" y="545"/>
                  <a:pt x="0" y="545"/>
                  <a:pt x="0" y="545"/>
                </a:cubicBezTo>
                <a:cubicBezTo>
                  <a:pt x="0" y="589"/>
                  <a:pt x="44" y="618"/>
                  <a:pt x="89" y="618"/>
                </a:cubicBezTo>
                <a:cubicBezTo>
                  <a:pt x="353" y="618"/>
                  <a:pt x="353" y="618"/>
                  <a:pt x="353" y="618"/>
                </a:cubicBezTo>
                <a:cubicBezTo>
                  <a:pt x="398" y="618"/>
                  <a:pt x="442" y="589"/>
                  <a:pt x="442" y="545"/>
                </a:cubicBezTo>
                <a:cubicBezTo>
                  <a:pt x="442" y="118"/>
                  <a:pt x="442" y="118"/>
                  <a:pt x="442" y="118"/>
                </a:cubicBezTo>
                <a:cubicBezTo>
                  <a:pt x="442" y="74"/>
                  <a:pt x="398" y="29"/>
                  <a:pt x="353" y="29"/>
                </a:cubicBezTo>
                <a:close/>
                <a:moveTo>
                  <a:pt x="398" y="545"/>
                </a:moveTo>
                <a:lnTo>
                  <a:pt x="398" y="545"/>
                </a:lnTo>
                <a:cubicBezTo>
                  <a:pt x="398" y="559"/>
                  <a:pt x="383" y="589"/>
                  <a:pt x="353" y="589"/>
                </a:cubicBezTo>
                <a:cubicBezTo>
                  <a:pt x="89" y="589"/>
                  <a:pt x="89" y="589"/>
                  <a:pt x="89" y="589"/>
                </a:cubicBezTo>
                <a:cubicBezTo>
                  <a:pt x="59" y="589"/>
                  <a:pt x="44" y="559"/>
                  <a:pt x="44" y="545"/>
                </a:cubicBezTo>
                <a:cubicBezTo>
                  <a:pt x="44" y="118"/>
                  <a:pt x="44" y="118"/>
                  <a:pt x="44" y="118"/>
                </a:cubicBezTo>
                <a:cubicBezTo>
                  <a:pt x="44" y="88"/>
                  <a:pt x="59" y="74"/>
                  <a:pt x="89" y="74"/>
                </a:cubicBezTo>
                <a:cubicBezTo>
                  <a:pt x="353" y="74"/>
                  <a:pt x="353" y="74"/>
                  <a:pt x="353" y="74"/>
                </a:cubicBezTo>
                <a:cubicBezTo>
                  <a:pt x="383" y="74"/>
                  <a:pt x="398" y="88"/>
                  <a:pt x="398" y="118"/>
                </a:cubicBezTo>
                <a:lnTo>
                  <a:pt x="398" y="545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  <a:effectLst/>
        </p:spPr>
        <p:txBody>
          <a:bodyPr wrap="none" lIns="91431" tIns="45716" rIns="91431" bIns="45716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47" name="Freeform 205"/>
          <p:cNvSpPr>
            <a:spLocks noChangeArrowheads="1"/>
          </p:cNvSpPr>
          <p:nvPr/>
        </p:nvSpPr>
        <p:spPr bwMode="auto">
          <a:xfrm>
            <a:off x="8401350" y="4737033"/>
            <a:ext cx="265113" cy="355601"/>
          </a:xfrm>
          <a:custGeom>
            <a:avLst/>
            <a:gdLst>
              <a:gd name="T0" fmla="*/ 126231 w 443"/>
              <a:gd name="T1" fmla="*/ 0 h 590"/>
              <a:gd name="T2" fmla="*/ 126231 w 443"/>
              <a:gd name="T3" fmla="*/ 0 h 590"/>
              <a:gd name="T4" fmla="*/ 31826 w 443"/>
              <a:gd name="T5" fmla="*/ 0 h 590"/>
              <a:gd name="T6" fmla="*/ 0 w 443"/>
              <a:gd name="T7" fmla="*/ 26290 h 590"/>
              <a:gd name="T8" fmla="*/ 0 w 443"/>
              <a:gd name="T9" fmla="*/ 185467 h 590"/>
              <a:gd name="T10" fmla="*/ 31826 w 443"/>
              <a:gd name="T11" fmla="*/ 212117 h 590"/>
              <a:gd name="T12" fmla="*/ 79029 w 443"/>
              <a:gd name="T13" fmla="*/ 164220 h 590"/>
              <a:gd name="T14" fmla="*/ 126231 w 443"/>
              <a:gd name="T15" fmla="*/ 212117 h 590"/>
              <a:gd name="T16" fmla="*/ 158057 w 443"/>
              <a:gd name="T17" fmla="*/ 185467 h 590"/>
              <a:gd name="T18" fmla="*/ 158057 w 443"/>
              <a:gd name="T19" fmla="*/ 26290 h 590"/>
              <a:gd name="T20" fmla="*/ 126231 w 443"/>
              <a:gd name="T21" fmla="*/ 0 h 590"/>
              <a:gd name="T22" fmla="*/ 142323 w 443"/>
              <a:gd name="T23" fmla="*/ 185467 h 590"/>
              <a:gd name="T24" fmla="*/ 142323 w 443"/>
              <a:gd name="T25" fmla="*/ 185467 h 590"/>
              <a:gd name="T26" fmla="*/ 126231 w 443"/>
              <a:gd name="T27" fmla="*/ 196271 h 590"/>
              <a:gd name="T28" fmla="*/ 79029 w 443"/>
              <a:gd name="T29" fmla="*/ 148374 h 590"/>
              <a:gd name="T30" fmla="*/ 31826 w 443"/>
              <a:gd name="T31" fmla="*/ 196271 h 590"/>
              <a:gd name="T32" fmla="*/ 15734 w 443"/>
              <a:gd name="T33" fmla="*/ 185467 h 590"/>
              <a:gd name="T34" fmla="*/ 15734 w 443"/>
              <a:gd name="T35" fmla="*/ 26290 h 590"/>
              <a:gd name="T36" fmla="*/ 31826 w 443"/>
              <a:gd name="T37" fmla="*/ 15846 h 590"/>
              <a:gd name="T38" fmla="*/ 126231 w 443"/>
              <a:gd name="T39" fmla="*/ 15846 h 590"/>
              <a:gd name="T40" fmla="*/ 142323 w 443"/>
              <a:gd name="T41" fmla="*/ 26290 h 590"/>
              <a:gd name="T42" fmla="*/ 142323 w 443"/>
              <a:gd name="T43" fmla="*/ 185467 h 590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</a:gdLst>
            <a:ahLst/>
            <a:cxnLst>
              <a:cxn ang="T44">
                <a:pos x="T0" y="T1"/>
              </a:cxn>
              <a:cxn ang="T45">
                <a:pos x="T2" y="T3"/>
              </a:cxn>
              <a:cxn ang="T46">
                <a:pos x="T4" y="T5"/>
              </a:cxn>
              <a:cxn ang="T47">
                <a:pos x="T6" y="T7"/>
              </a:cxn>
              <a:cxn ang="T48">
                <a:pos x="T8" y="T9"/>
              </a:cxn>
              <a:cxn ang="T49">
                <a:pos x="T10" y="T11"/>
              </a:cxn>
              <a:cxn ang="T50">
                <a:pos x="T12" y="T13"/>
              </a:cxn>
              <a:cxn ang="T51">
                <a:pos x="T14" y="T15"/>
              </a:cxn>
              <a:cxn ang="T52">
                <a:pos x="T16" y="T17"/>
              </a:cxn>
              <a:cxn ang="T53">
                <a:pos x="T18" y="T19"/>
              </a:cxn>
              <a:cxn ang="T54">
                <a:pos x="T20" y="T21"/>
              </a:cxn>
              <a:cxn ang="T55">
                <a:pos x="T22" y="T23"/>
              </a:cxn>
              <a:cxn ang="T56">
                <a:pos x="T24" y="T25"/>
              </a:cxn>
              <a:cxn ang="T57">
                <a:pos x="T26" y="T27"/>
              </a:cxn>
              <a:cxn ang="T58">
                <a:pos x="T28" y="T29"/>
              </a:cxn>
              <a:cxn ang="T59">
                <a:pos x="T30" y="T31"/>
              </a:cxn>
              <a:cxn ang="T60">
                <a:pos x="T32" y="T33"/>
              </a:cxn>
              <a:cxn ang="T61">
                <a:pos x="T34" y="T35"/>
              </a:cxn>
              <a:cxn ang="T62">
                <a:pos x="T36" y="T37"/>
              </a:cxn>
              <a:cxn ang="T63">
                <a:pos x="T38" y="T39"/>
              </a:cxn>
              <a:cxn ang="T64">
                <a:pos x="T40" y="T41"/>
              </a:cxn>
              <a:cxn ang="T65">
                <a:pos x="T42" y="T43"/>
              </a:cxn>
            </a:cxnLst>
            <a:rect l="0" t="0" r="r" b="b"/>
            <a:pathLst>
              <a:path w="443" h="590">
                <a:moveTo>
                  <a:pt x="353" y="0"/>
                </a:moveTo>
                <a:lnTo>
                  <a:pt x="353" y="0"/>
                </a:lnTo>
                <a:cubicBezTo>
                  <a:pt x="89" y="0"/>
                  <a:pt x="89" y="0"/>
                  <a:pt x="89" y="0"/>
                </a:cubicBezTo>
                <a:cubicBezTo>
                  <a:pt x="44" y="0"/>
                  <a:pt x="0" y="30"/>
                  <a:pt x="0" y="73"/>
                </a:cubicBezTo>
                <a:cubicBezTo>
                  <a:pt x="0" y="515"/>
                  <a:pt x="0" y="515"/>
                  <a:pt x="0" y="515"/>
                </a:cubicBezTo>
                <a:cubicBezTo>
                  <a:pt x="0" y="560"/>
                  <a:pt x="44" y="589"/>
                  <a:pt x="89" y="589"/>
                </a:cubicBezTo>
                <a:cubicBezTo>
                  <a:pt x="221" y="456"/>
                  <a:pt x="221" y="456"/>
                  <a:pt x="221" y="456"/>
                </a:cubicBezTo>
                <a:cubicBezTo>
                  <a:pt x="353" y="589"/>
                  <a:pt x="353" y="589"/>
                  <a:pt x="353" y="589"/>
                </a:cubicBezTo>
                <a:cubicBezTo>
                  <a:pt x="398" y="589"/>
                  <a:pt x="442" y="560"/>
                  <a:pt x="442" y="515"/>
                </a:cubicBezTo>
                <a:cubicBezTo>
                  <a:pt x="442" y="73"/>
                  <a:pt x="442" y="73"/>
                  <a:pt x="442" y="73"/>
                </a:cubicBezTo>
                <a:cubicBezTo>
                  <a:pt x="442" y="30"/>
                  <a:pt x="398" y="0"/>
                  <a:pt x="353" y="0"/>
                </a:cubicBezTo>
                <a:close/>
                <a:moveTo>
                  <a:pt x="398" y="515"/>
                </a:moveTo>
                <a:lnTo>
                  <a:pt x="398" y="515"/>
                </a:lnTo>
                <a:cubicBezTo>
                  <a:pt x="398" y="530"/>
                  <a:pt x="383" y="545"/>
                  <a:pt x="353" y="545"/>
                </a:cubicBezTo>
                <a:cubicBezTo>
                  <a:pt x="221" y="412"/>
                  <a:pt x="221" y="412"/>
                  <a:pt x="221" y="412"/>
                </a:cubicBezTo>
                <a:cubicBezTo>
                  <a:pt x="89" y="545"/>
                  <a:pt x="89" y="545"/>
                  <a:pt x="89" y="545"/>
                </a:cubicBezTo>
                <a:cubicBezTo>
                  <a:pt x="59" y="545"/>
                  <a:pt x="44" y="530"/>
                  <a:pt x="44" y="515"/>
                </a:cubicBezTo>
                <a:cubicBezTo>
                  <a:pt x="44" y="73"/>
                  <a:pt x="44" y="73"/>
                  <a:pt x="44" y="73"/>
                </a:cubicBezTo>
                <a:cubicBezTo>
                  <a:pt x="44" y="59"/>
                  <a:pt x="59" y="44"/>
                  <a:pt x="89" y="44"/>
                </a:cubicBezTo>
                <a:cubicBezTo>
                  <a:pt x="353" y="44"/>
                  <a:pt x="353" y="44"/>
                  <a:pt x="353" y="44"/>
                </a:cubicBezTo>
                <a:cubicBezTo>
                  <a:pt x="383" y="44"/>
                  <a:pt x="398" y="59"/>
                  <a:pt x="398" y="73"/>
                </a:cubicBezTo>
                <a:lnTo>
                  <a:pt x="398" y="515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  <a:effectLst/>
        </p:spPr>
        <p:txBody>
          <a:bodyPr wrap="none" lIns="91431" tIns="45716" rIns="91431" bIns="45716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pic>
        <p:nvPicPr>
          <p:cNvPr id="2" name="Picture 1" descr="Screenshot 2024-12-14 at 8.30.36 P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665" y="1411605"/>
            <a:ext cx="5264785" cy="470789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表 1"/>
          <p:cNvGraphicFramePr/>
          <p:nvPr/>
        </p:nvGraphicFramePr>
        <p:xfrm>
          <a:off x="5506357" y="1356015"/>
          <a:ext cx="6218955" cy="41459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746088" y="475991"/>
            <a:ext cx="270383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0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Feature Engineering </a:t>
            </a:r>
            <a:endParaRPr lang="en-US" altLang="zh-CN" sz="20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endParaRPr lang="en-US" altLang="zh-CN" sz="20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289435" y="545974"/>
            <a:ext cx="340519" cy="260145"/>
          </a:xfrm>
          <a:prstGeom prst="rect">
            <a:avLst/>
          </a:prstGeom>
          <a:solidFill>
            <a:schemeClr val="accent1">
              <a:lumMod val="75000"/>
            </a:schemeClr>
          </a:solidFill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cxnSp>
        <p:nvCxnSpPr>
          <p:cNvPr id="5" name="直接连接符 4"/>
          <p:cNvCxnSpPr/>
          <p:nvPr/>
        </p:nvCxnSpPr>
        <p:spPr>
          <a:xfrm>
            <a:off x="2282942" y="2251485"/>
            <a:ext cx="424190" cy="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412078" y="2251520"/>
            <a:ext cx="5094160" cy="425069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30000"/>
              </a:lnSpc>
            </a:pPr>
            <a:r>
              <a:rPr lang="en-US" altLang="zh-CN" sz="1600" b="1" dirty="0">
                <a:solidFill>
                  <a:srgbClr val="595959"/>
                </a:solidFill>
                <a:latin typeface="Hiragino Sans GB W6" panose="020B0300000000000000" charset="-122"/>
                <a:ea typeface="Hiragino Sans GB W6" panose="020B0300000000000000" charset="-122"/>
                <a:sym typeface="+mn-ea"/>
              </a:rPr>
              <a:t>Purpose:</a:t>
            </a:r>
            <a:r>
              <a:rPr lang="en-US" altLang="zh-CN" sz="1600" dirty="0">
                <a:solidFill>
                  <a:srgbClr val="595959"/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  <a:sym typeface="+mn-ea"/>
              </a:rPr>
              <a:t> Enhance model performance by adding domain-relevant features.</a:t>
            </a:r>
            <a:endParaRPr lang="en-US" altLang="zh-CN" sz="1600" dirty="0">
              <a:solidFill>
                <a:srgbClr val="595959"/>
              </a:solidFill>
              <a:latin typeface="冬青黑体简体中文 W3" panose="020B0300000000000000" pitchFamily="34" charset="-122"/>
              <a:ea typeface="冬青黑体简体中文 W3" panose="020B0300000000000000" pitchFamily="34" charset="-122"/>
              <a:sym typeface="+mn-ea"/>
            </a:endParaRPr>
          </a:p>
          <a:p>
            <a:pPr algn="l">
              <a:lnSpc>
                <a:spcPct val="130000"/>
              </a:lnSpc>
            </a:pPr>
            <a:endParaRPr lang="en-US" altLang="zh-CN" sz="1600" b="1" dirty="0">
              <a:solidFill>
                <a:srgbClr val="595959"/>
              </a:solidFill>
              <a:latin typeface="Hiragino Sans GB W6" panose="020B0300000000000000" charset="-122"/>
              <a:ea typeface="Hiragino Sans GB W6" panose="020B0300000000000000" charset="-122"/>
              <a:sym typeface="+mn-ea"/>
            </a:endParaRPr>
          </a:p>
          <a:p>
            <a:pPr algn="l">
              <a:lnSpc>
                <a:spcPct val="130000"/>
              </a:lnSpc>
            </a:pPr>
            <a:r>
              <a:rPr lang="en-US" altLang="zh-CN" sz="1600" b="1" dirty="0">
                <a:solidFill>
                  <a:srgbClr val="595959"/>
                </a:solidFill>
                <a:latin typeface="Hiragino Sans GB W6" panose="020B0300000000000000" charset="-122"/>
                <a:ea typeface="Hiragino Sans GB W6" panose="020B0300000000000000" charset="-122"/>
                <a:sym typeface="+mn-ea"/>
              </a:rPr>
              <a:t>Examples:</a:t>
            </a:r>
            <a:endParaRPr lang="en-US" altLang="zh-CN" sz="1600" b="1" dirty="0">
              <a:solidFill>
                <a:srgbClr val="595959"/>
              </a:solidFill>
              <a:latin typeface="Hiragino Sans GB W6" panose="020B0300000000000000" charset="-122"/>
              <a:ea typeface="Hiragino Sans GB W6" panose="020B0300000000000000" charset="-122"/>
              <a:sym typeface="+mn-ea"/>
            </a:endParaRPr>
          </a:p>
          <a:p>
            <a:pPr algn="l">
              <a:lnSpc>
                <a:spcPct val="130000"/>
              </a:lnSpc>
            </a:pPr>
            <a:r>
              <a:rPr lang="en-US" altLang="zh-CN" sz="1600" b="1" dirty="0">
                <a:solidFill>
                  <a:srgbClr val="595959"/>
                </a:solidFill>
                <a:latin typeface="Hiragino Sans GB W6" panose="020B0300000000000000" charset="-122"/>
                <a:ea typeface="Hiragino Sans GB W6" panose="020B0300000000000000" charset="-122"/>
                <a:sym typeface="+mn-ea"/>
              </a:rPr>
              <a:t>DebtAge: </a:t>
            </a:r>
            <a:r>
              <a:rPr lang="en-US" altLang="zh-CN" sz="1600" dirty="0">
                <a:solidFill>
                  <a:srgbClr val="595959"/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  <a:sym typeface="+mn-ea"/>
              </a:rPr>
              <a:t>Time since </a:t>
            </a:r>
            <a:r>
              <a:rPr lang="en-US" altLang="zh-CN" sz="1600" b="1" dirty="0">
                <a:solidFill>
                  <a:srgbClr val="595959"/>
                </a:solidFill>
                <a:latin typeface="Hiragino Sans GB W6" panose="020B0300000000000000" charset="-122"/>
                <a:ea typeface="Hiragino Sans GB W6" panose="020B0300000000000000" charset="-122"/>
                <a:sym typeface="+mn-ea"/>
              </a:rPr>
              <a:t>PurchaseDate.</a:t>
            </a:r>
            <a:endParaRPr lang="en-US" altLang="zh-CN" sz="1600" dirty="0">
              <a:solidFill>
                <a:srgbClr val="595959"/>
              </a:solidFill>
              <a:latin typeface="冬青黑体简体中文 W3" panose="020B0300000000000000" pitchFamily="34" charset="-122"/>
              <a:ea typeface="冬青黑体简体中文 W3" panose="020B0300000000000000" pitchFamily="34" charset="-122"/>
              <a:sym typeface="+mn-ea"/>
            </a:endParaRPr>
          </a:p>
          <a:p>
            <a:pPr algn="l">
              <a:lnSpc>
                <a:spcPct val="130000"/>
              </a:lnSpc>
            </a:pPr>
            <a:r>
              <a:rPr lang="en-US" altLang="zh-CN" sz="1600" b="1" dirty="0">
                <a:solidFill>
                  <a:srgbClr val="595959"/>
                </a:solidFill>
                <a:latin typeface="Hiragino Sans GB W6" panose="020B0300000000000000" charset="-122"/>
                <a:ea typeface="Hiragino Sans GB W6" panose="020B0300000000000000" charset="-122"/>
                <a:sym typeface="+mn-ea"/>
              </a:rPr>
              <a:t>LoadToPurchaseDays:</a:t>
            </a:r>
            <a:r>
              <a:rPr lang="en-US" altLang="zh-CN" sz="1600" dirty="0">
                <a:solidFill>
                  <a:srgbClr val="595959"/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  <a:sym typeface="+mn-ea"/>
              </a:rPr>
              <a:t> Gap between </a:t>
            </a:r>
            <a:r>
              <a:rPr lang="en-US" altLang="zh-CN" sz="1600" b="1" dirty="0">
                <a:solidFill>
                  <a:srgbClr val="595959"/>
                </a:solidFill>
                <a:latin typeface="Hiragino Sans GB W6" panose="020B0300000000000000" charset="-122"/>
                <a:ea typeface="Hiragino Sans GB W6" panose="020B0300000000000000" charset="-122"/>
                <a:sym typeface="+mn-ea"/>
              </a:rPr>
              <a:t>LoadDate</a:t>
            </a:r>
            <a:r>
              <a:rPr lang="en-US" altLang="zh-CN" sz="1600" dirty="0">
                <a:solidFill>
                  <a:srgbClr val="595959"/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  <a:sym typeface="+mn-ea"/>
              </a:rPr>
              <a:t> and </a:t>
            </a:r>
            <a:r>
              <a:rPr lang="en-US" altLang="zh-CN" sz="1600" b="1" dirty="0">
                <a:solidFill>
                  <a:srgbClr val="595959"/>
                </a:solidFill>
                <a:latin typeface="Hiragino Sans GB W6" panose="020B0300000000000000" charset="-122"/>
                <a:ea typeface="Hiragino Sans GB W6" panose="020B0300000000000000" charset="-122"/>
                <a:sym typeface="+mn-ea"/>
              </a:rPr>
              <a:t>PurchaseDate.</a:t>
            </a:r>
            <a:endParaRPr lang="en-US" altLang="zh-CN" sz="1600" b="1" dirty="0">
              <a:solidFill>
                <a:srgbClr val="595959"/>
              </a:solidFill>
              <a:latin typeface="Hiragino Sans GB W6" panose="020B0300000000000000" charset="-122"/>
              <a:ea typeface="Hiragino Sans GB W6" panose="020B0300000000000000" charset="-122"/>
              <a:sym typeface="+mn-ea"/>
            </a:endParaRPr>
          </a:p>
          <a:p>
            <a:pPr algn="l">
              <a:lnSpc>
                <a:spcPct val="130000"/>
              </a:lnSpc>
            </a:pPr>
            <a:r>
              <a:rPr lang="en-US" altLang="zh-CN" sz="1600" b="1" dirty="0">
                <a:solidFill>
                  <a:srgbClr val="595959"/>
                </a:solidFill>
                <a:latin typeface="Hiragino Sans GB W6" panose="020B0300000000000000" charset="-122"/>
                <a:ea typeface="Hiragino Sans GB W6" panose="020B0300000000000000" charset="-122"/>
                <a:cs typeface="Hiragino Sans GB W6" panose="020B0300000000000000" charset="-122"/>
                <a:sym typeface="+mn-ea"/>
              </a:rPr>
              <a:t>Interaction Terms: InterestRate × DebtLoadPrincipal.</a:t>
            </a:r>
            <a:endParaRPr lang="en-US" altLang="zh-CN" sz="1600" b="1" dirty="0">
              <a:solidFill>
                <a:srgbClr val="595959"/>
              </a:solidFill>
              <a:latin typeface="Hiragino Sans GB W6" panose="020B0300000000000000" charset="-122"/>
              <a:ea typeface="Hiragino Sans GB W6" panose="020B0300000000000000" charset="-122"/>
              <a:cs typeface="Hiragino Sans GB W6" panose="020B0300000000000000" charset="-122"/>
              <a:sym typeface="+mn-ea"/>
            </a:endParaRPr>
          </a:p>
          <a:p>
            <a:pPr algn="l">
              <a:lnSpc>
                <a:spcPct val="130000"/>
              </a:lnSpc>
            </a:pPr>
            <a:endParaRPr lang="en-US" altLang="zh-CN" sz="1600" b="1" dirty="0">
              <a:solidFill>
                <a:srgbClr val="595959"/>
              </a:solidFill>
              <a:latin typeface="Hiragino Sans GB W6" panose="020B0300000000000000" charset="-122"/>
              <a:ea typeface="Hiragino Sans GB W6" panose="020B0300000000000000" charset="-122"/>
              <a:cs typeface="Hiragino Sans GB W6" panose="020B0300000000000000" charset="-122"/>
              <a:sym typeface="+mn-ea"/>
            </a:endParaRPr>
          </a:p>
          <a:p>
            <a:pPr algn="l">
              <a:lnSpc>
                <a:spcPct val="130000"/>
              </a:lnSpc>
            </a:pPr>
            <a:r>
              <a:rPr lang="en-US" altLang="zh-CN" sz="1600" b="1" dirty="0">
                <a:solidFill>
                  <a:srgbClr val="595959"/>
                </a:solidFill>
                <a:latin typeface="Hiragino Sans GB W6" panose="020B0300000000000000" charset="-122"/>
                <a:ea typeface="Hiragino Sans GB W6" panose="020B0300000000000000" charset="-122"/>
                <a:sym typeface="+mn-ea"/>
              </a:rPr>
              <a:t>Key Challenges:</a:t>
            </a:r>
            <a:r>
              <a:rPr lang="en-US" altLang="zh-CN" sz="1600" dirty="0">
                <a:solidFill>
                  <a:srgbClr val="595959"/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  <a:sym typeface="+mn-ea"/>
              </a:rPr>
              <a:t> Missing date columns, synthetic feature generation.</a:t>
            </a:r>
            <a:endParaRPr lang="en-US" altLang="zh-CN" sz="1600" dirty="0">
              <a:solidFill>
                <a:srgbClr val="595959"/>
              </a:solidFill>
              <a:latin typeface="冬青黑体简体中文 W3" panose="020B0300000000000000" pitchFamily="34" charset="-122"/>
              <a:ea typeface="冬青黑体简体中文 W3" panose="020B0300000000000000" pitchFamily="34" charset="-122"/>
              <a:sym typeface="+mn-ea"/>
            </a:endParaRPr>
          </a:p>
          <a:p>
            <a:pPr algn="ctr">
              <a:lnSpc>
                <a:spcPct val="130000"/>
              </a:lnSpc>
            </a:pPr>
            <a:endParaRPr lang="en-US" altLang="zh-CN" sz="1600" dirty="0">
              <a:solidFill>
                <a:srgbClr val="595959"/>
              </a:solidFill>
              <a:latin typeface="冬青黑体简体中文 W3" panose="020B0300000000000000" pitchFamily="34" charset="-122"/>
              <a:ea typeface="冬青黑体简体中文 W3" panose="020B0300000000000000" pitchFamily="34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92405" y="1435100"/>
            <a:ext cx="460438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dirty="0">
                <a:latin typeface="微软雅黑 Light" panose="020B0502040204020203" pitchFamily="34" charset="-122"/>
                <a:ea typeface="微软雅黑 Light" panose="020B0502040204020203" pitchFamily="34" charset="-122"/>
                <a:sym typeface="+mn-ea"/>
              </a:rPr>
              <a:t>Overview</a:t>
            </a:r>
            <a:endParaRPr lang="en-US" altLang="zh-CN" sz="4000" b="1" dirty="0">
              <a:solidFill>
                <a:schemeClr val="accent1">
                  <a:lumMod val="7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80622" y="1881188"/>
            <a:ext cx="3471863" cy="165414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1096639" y="2232022"/>
            <a:ext cx="2357515" cy="9531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altLang="zh-CN" sz="2800" dirty="0">
                <a:solidFill>
                  <a:schemeClr val="bg1">
                    <a:lumMod val="95000"/>
                  </a:schemeClr>
                </a:solidFill>
                <a:latin typeface="Gulim" pitchFamily="34" charset="-127"/>
                <a:ea typeface="Gulim" pitchFamily="34" charset="-127"/>
              </a:rPr>
              <a:t>Variable Analysis</a:t>
            </a:r>
            <a:endParaRPr lang="zh-CN" altLang="en-US" sz="2800" dirty="0">
              <a:solidFill>
                <a:schemeClr val="bg1">
                  <a:lumMod val="95000"/>
                </a:schemeClr>
              </a:solidFill>
              <a:latin typeface="Gulim" pitchFamily="34" charset="-127"/>
              <a:ea typeface="Gulim" pitchFamily="34" charset="-127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746088" y="475991"/>
            <a:ext cx="326453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Statistical Representation</a:t>
            </a:r>
            <a:endParaRPr lang="en-US" altLang="zh-CN" sz="20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89435" y="545974"/>
            <a:ext cx="340519" cy="260145"/>
          </a:xfrm>
          <a:prstGeom prst="rect">
            <a:avLst/>
          </a:prstGeom>
          <a:solidFill>
            <a:schemeClr val="accent1">
              <a:lumMod val="75000"/>
            </a:schemeClr>
          </a:solidFill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28696"/>
          <a:stretch>
            <a:fillRect/>
          </a:stretch>
        </p:blipFill>
        <p:spPr>
          <a:xfrm>
            <a:off x="4281096" y="1881188"/>
            <a:ext cx="3492790" cy="1654148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8961"/>
          <a:stretch>
            <a:fillRect/>
          </a:stretch>
        </p:blipFill>
        <p:spPr>
          <a:xfrm>
            <a:off x="8119671" y="1881188"/>
            <a:ext cx="3492790" cy="1654148"/>
          </a:xfrm>
          <a:prstGeom prst="rect">
            <a:avLst/>
          </a:prstGeom>
        </p:spPr>
      </p:pic>
      <p:sp>
        <p:nvSpPr>
          <p:cNvPr id="26" name="矩形 25"/>
          <p:cNvSpPr/>
          <p:nvPr/>
        </p:nvSpPr>
        <p:spPr>
          <a:xfrm>
            <a:off x="636844" y="4045718"/>
            <a:ext cx="1727835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Add Your Title</a:t>
            </a:r>
            <a:endParaRPr lang="en-US" altLang="zh-CN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27" name="直接连接符 26"/>
          <p:cNvCxnSpPr/>
          <p:nvPr/>
        </p:nvCxnSpPr>
        <p:spPr>
          <a:xfrm>
            <a:off x="782426" y="4497926"/>
            <a:ext cx="314325" cy="0"/>
          </a:xfrm>
          <a:prstGeom prst="line">
            <a:avLst/>
          </a:prstGeom>
          <a:ln w="285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PA_矩形 75"/>
          <p:cNvSpPr/>
          <p:nvPr>
            <p:custDataLst>
              <p:tags r:id="rId3"/>
            </p:custDataLst>
          </p:nvPr>
        </p:nvSpPr>
        <p:spPr>
          <a:xfrm>
            <a:off x="636799" y="4553378"/>
            <a:ext cx="3186756" cy="65024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altLang="zh-CN" sz="1400" dirty="0">
                <a:solidFill>
                  <a:schemeClr val="bg1"/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  <a:sym typeface="+mn-ea"/>
              </a:rPr>
              <a:t>Add Text Add Text Add Text Add Text Add Text Add Text Add Text</a:t>
            </a:r>
            <a:endParaRPr lang="en-US" altLang="zh-CN" sz="1400" dirty="0">
              <a:solidFill>
                <a:schemeClr val="bg1"/>
              </a:solidFill>
              <a:latin typeface="冬青黑体简体中文 W3" panose="020B0300000000000000" pitchFamily="34" charset="-122"/>
              <a:ea typeface="冬青黑体简体中文 W3" panose="020B0300000000000000" pitchFamily="34" charset="-122"/>
              <a:sym typeface="+mn-ea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4546563" y="4045718"/>
            <a:ext cx="1727835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altLang="zh-CN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Add Your Title</a:t>
            </a:r>
            <a:endParaRPr lang="zh-CN" altLang="en-US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30" name="直接连接符 29"/>
          <p:cNvCxnSpPr/>
          <p:nvPr/>
        </p:nvCxnSpPr>
        <p:spPr>
          <a:xfrm>
            <a:off x="4692145" y="4497926"/>
            <a:ext cx="314325" cy="0"/>
          </a:xfrm>
          <a:prstGeom prst="line">
            <a:avLst/>
          </a:prstGeom>
          <a:ln w="285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矩形 31"/>
          <p:cNvSpPr/>
          <p:nvPr/>
        </p:nvSpPr>
        <p:spPr>
          <a:xfrm>
            <a:off x="8329120" y="4045718"/>
            <a:ext cx="1727835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altLang="zh-CN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Add Your Title</a:t>
            </a:r>
            <a:endParaRPr lang="zh-CN" altLang="en-US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33" name="直接连接符 32"/>
          <p:cNvCxnSpPr/>
          <p:nvPr/>
        </p:nvCxnSpPr>
        <p:spPr>
          <a:xfrm>
            <a:off x="8474702" y="4497926"/>
            <a:ext cx="314325" cy="0"/>
          </a:xfrm>
          <a:prstGeom prst="line">
            <a:avLst/>
          </a:prstGeom>
          <a:ln w="285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PA_矩形 75"/>
          <p:cNvSpPr/>
          <p:nvPr>
            <p:custDataLst>
              <p:tags r:id="rId4"/>
            </p:custDataLst>
          </p:nvPr>
        </p:nvSpPr>
        <p:spPr>
          <a:xfrm>
            <a:off x="4482994" y="4413678"/>
            <a:ext cx="3186756" cy="370840"/>
          </a:xfrm>
          <a:prstGeom prst="rect">
            <a:avLst/>
          </a:prstGeom>
        </p:spPr>
        <p:style>
          <a:lnRef idx="0">
            <a:srgbClr val="FFFFFF"/>
          </a:lnRef>
          <a:fillRef idx="1">
            <a:prstClr val="black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altLang="zh-CN" sz="1400" dirty="0">
                <a:solidFill>
                  <a:schemeClr val="bg1"/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  <a:sym typeface="+mn-ea"/>
              </a:rPr>
              <a:t>Derived Category Statistics</a:t>
            </a:r>
            <a:endParaRPr lang="en-US" altLang="zh-CN" sz="1400" dirty="0">
              <a:solidFill>
                <a:schemeClr val="bg1"/>
              </a:solidFill>
              <a:latin typeface="冬青黑体简体中文 W3" panose="020B0300000000000000" pitchFamily="34" charset="-122"/>
              <a:ea typeface="冬青黑体简体中文 W3" panose="020B0300000000000000" pitchFamily="34" charset="-122"/>
              <a:sym typeface="+mn-ea"/>
            </a:endParaRPr>
          </a:p>
        </p:txBody>
      </p:sp>
      <p:sp>
        <p:nvSpPr>
          <p:cNvPr id="6" name="PA_矩形 75"/>
          <p:cNvSpPr/>
          <p:nvPr>
            <p:custDataLst>
              <p:tags r:id="rId5"/>
            </p:custDataLst>
          </p:nvPr>
        </p:nvSpPr>
        <p:spPr>
          <a:xfrm>
            <a:off x="8329189" y="4553378"/>
            <a:ext cx="3186756" cy="65024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altLang="zh-CN" sz="1400" dirty="0">
                <a:solidFill>
                  <a:schemeClr val="bg1"/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  <a:sym typeface="+mn-ea"/>
              </a:rPr>
              <a:t>Add Text Add Text Add Text Add Text Add Text Add Text Add Text</a:t>
            </a:r>
            <a:endParaRPr lang="en-US" altLang="zh-CN" sz="1400" dirty="0">
              <a:solidFill>
                <a:schemeClr val="bg1"/>
              </a:solidFill>
              <a:latin typeface="冬青黑体简体中文 W3" panose="020B0300000000000000" pitchFamily="34" charset="-122"/>
              <a:ea typeface="冬青黑体简体中文 W3" panose="020B0300000000000000" pitchFamily="34" charset="-122"/>
              <a:sym typeface="+mn-ea"/>
            </a:endParaRPr>
          </a:p>
        </p:txBody>
      </p:sp>
      <p:pic>
        <p:nvPicPr>
          <p:cNvPr id="9" name="Picture 8" descr="Screenshot 2024-12-14 at 8.45.34 PM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45610" y="1544320"/>
            <a:ext cx="3580765" cy="2285365"/>
          </a:xfrm>
          <a:prstGeom prst="rect">
            <a:avLst/>
          </a:prstGeom>
        </p:spPr>
      </p:pic>
      <p:pic>
        <p:nvPicPr>
          <p:cNvPr id="10" name="Picture 9" descr="Screenshot 2024-12-14 at 8.47.31 PM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57820" y="1544320"/>
            <a:ext cx="3929380" cy="2212340"/>
          </a:xfrm>
          <a:prstGeom prst="rect">
            <a:avLst/>
          </a:prstGeom>
        </p:spPr>
      </p:pic>
      <p:pic>
        <p:nvPicPr>
          <p:cNvPr id="11" name="Picture 10" descr="Screenshot 2024-12-14 at 8.49.40 PM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0695" y="3838575"/>
            <a:ext cx="4034155" cy="2383790"/>
          </a:xfrm>
          <a:prstGeom prst="rect">
            <a:avLst/>
          </a:prstGeom>
        </p:spPr>
      </p:pic>
      <p:pic>
        <p:nvPicPr>
          <p:cNvPr id="12" name="Picture 11" descr="Screenshot 2024-12-14 at 8.52.15 PM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85100" y="3756660"/>
            <a:ext cx="3827145" cy="23418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图片 38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5" t="12505" r="31314" b="12505"/>
          <a:stretch>
            <a:fillRect/>
          </a:stretch>
        </p:blipFill>
        <p:spPr>
          <a:xfrm>
            <a:off x="693115" y="1468151"/>
            <a:ext cx="6152186" cy="4619188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11000"/>
              </a:prstClr>
            </a:outerShdw>
          </a:effectLst>
        </p:spPr>
      </p:pic>
      <p:sp>
        <p:nvSpPr>
          <p:cNvPr id="3" name="矩形 2"/>
          <p:cNvSpPr/>
          <p:nvPr/>
        </p:nvSpPr>
        <p:spPr>
          <a:xfrm>
            <a:off x="3943977" y="1865817"/>
            <a:ext cx="7257423" cy="3828905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 anchor="ctr">
            <a:spAutoFit/>
          </a:bodyPr>
          <a:lstStyle/>
          <a:p>
            <a:pPr algn="ctr">
              <a:spcBef>
                <a:spcPct val="0"/>
              </a:spcBef>
            </a:pPr>
            <a:endParaRPr lang="zh-CN" altLang="en-US" sz="2000">
              <a:solidFill>
                <a:srgbClr val="222B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圆角矩形 95"/>
          <p:cNvSpPr/>
          <p:nvPr/>
        </p:nvSpPr>
        <p:spPr>
          <a:xfrm>
            <a:off x="4472255" y="3325514"/>
            <a:ext cx="649514" cy="649514"/>
          </a:xfrm>
          <a:prstGeom prst="roundRect">
            <a:avLst/>
          </a:prstGeom>
          <a:solidFill>
            <a:srgbClr val="FFFFFF"/>
          </a:solidFill>
        </p:spPr>
        <p:txBody>
          <a:bodyPr wrap="none" rtlCol="0" anchor="ctr">
            <a:spAutoFit/>
          </a:bodyPr>
          <a:lstStyle/>
          <a:p>
            <a:pPr algn="ctr">
              <a:spcBef>
                <a:spcPct val="0"/>
              </a:spcBef>
            </a:pPr>
            <a:endParaRPr lang="zh-CN" altLang="en-US" sz="2000">
              <a:solidFill>
                <a:srgbClr val="222B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pSp>
        <p:nvGrpSpPr>
          <p:cNvPr id="5" name="Group 65"/>
          <p:cNvGrpSpPr/>
          <p:nvPr/>
        </p:nvGrpSpPr>
        <p:grpSpPr>
          <a:xfrm>
            <a:off x="4549096" y="3452813"/>
            <a:ext cx="526560" cy="396608"/>
            <a:chOff x="550885" y="1190671"/>
            <a:chExt cx="3840309" cy="2892537"/>
          </a:xfrm>
          <a:solidFill>
            <a:schemeClr val="accent1">
              <a:lumMod val="75000"/>
            </a:schemeClr>
          </a:solidFill>
        </p:grpSpPr>
        <p:sp>
          <p:nvSpPr>
            <p:cNvPr id="6" name="Freeform 14"/>
            <p:cNvSpPr>
              <a:spLocks noEditPoints="1"/>
            </p:cNvSpPr>
            <p:nvPr/>
          </p:nvSpPr>
          <p:spPr bwMode="auto">
            <a:xfrm>
              <a:off x="2425794" y="2978264"/>
              <a:ext cx="149229" cy="239723"/>
            </a:xfrm>
            <a:custGeom>
              <a:avLst/>
              <a:gdLst/>
              <a:ahLst/>
              <a:cxnLst>
                <a:cxn ang="0">
                  <a:pos x="65" y="30"/>
                </a:cxn>
                <a:cxn ang="0">
                  <a:pos x="46" y="17"/>
                </a:cxn>
                <a:cxn ang="0">
                  <a:pos x="0" y="0"/>
                </a:cxn>
                <a:cxn ang="0">
                  <a:pos x="0" y="122"/>
                </a:cxn>
                <a:cxn ang="0">
                  <a:pos x="69" y="86"/>
                </a:cxn>
                <a:cxn ang="0">
                  <a:pos x="74" y="48"/>
                </a:cxn>
                <a:cxn ang="0">
                  <a:pos x="65" y="30"/>
                </a:cxn>
                <a:cxn ang="0">
                  <a:pos x="65" y="30"/>
                </a:cxn>
                <a:cxn ang="0">
                  <a:pos x="65" y="30"/>
                </a:cxn>
              </a:cxnLst>
              <a:rect l="0" t="0" r="r" b="b"/>
              <a:pathLst>
                <a:path w="76" h="122">
                  <a:moveTo>
                    <a:pt x="65" y="30"/>
                  </a:moveTo>
                  <a:cubicBezTo>
                    <a:pt x="59" y="24"/>
                    <a:pt x="53" y="20"/>
                    <a:pt x="46" y="17"/>
                  </a:cubicBezTo>
                  <a:cubicBezTo>
                    <a:pt x="32" y="9"/>
                    <a:pt x="16" y="4"/>
                    <a:pt x="0" y="0"/>
                  </a:cubicBezTo>
                  <a:cubicBezTo>
                    <a:pt x="0" y="122"/>
                    <a:pt x="0" y="122"/>
                    <a:pt x="0" y="122"/>
                  </a:cubicBezTo>
                  <a:cubicBezTo>
                    <a:pt x="26" y="119"/>
                    <a:pt x="55" y="110"/>
                    <a:pt x="69" y="86"/>
                  </a:cubicBezTo>
                  <a:cubicBezTo>
                    <a:pt x="75" y="75"/>
                    <a:pt x="76" y="61"/>
                    <a:pt x="74" y="48"/>
                  </a:cubicBezTo>
                  <a:cubicBezTo>
                    <a:pt x="72" y="41"/>
                    <a:pt x="69" y="35"/>
                    <a:pt x="65" y="30"/>
                  </a:cubicBezTo>
                  <a:close/>
                  <a:moveTo>
                    <a:pt x="65" y="30"/>
                  </a:moveTo>
                  <a:cubicBezTo>
                    <a:pt x="65" y="30"/>
                    <a:pt x="65" y="30"/>
                    <a:pt x="65" y="30"/>
                  </a:cubicBezTo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7" name="Freeform 15"/>
            <p:cNvSpPr>
              <a:spLocks noEditPoints="1"/>
            </p:cNvSpPr>
            <p:nvPr/>
          </p:nvSpPr>
          <p:spPr bwMode="auto">
            <a:xfrm>
              <a:off x="2559149" y="3148136"/>
              <a:ext cx="1587" cy="158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cubicBezTo>
                    <a:pt x="0" y="0"/>
                    <a:pt x="0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lose/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8" name="Freeform 16"/>
            <p:cNvSpPr>
              <a:spLocks noEditPoints="1"/>
            </p:cNvSpPr>
            <p:nvPr/>
          </p:nvSpPr>
          <p:spPr bwMode="auto">
            <a:xfrm>
              <a:off x="2174958" y="2597251"/>
              <a:ext cx="120655" cy="214319"/>
            </a:xfrm>
            <a:custGeom>
              <a:avLst/>
              <a:gdLst/>
              <a:ahLst/>
              <a:cxnLst>
                <a:cxn ang="0">
                  <a:pos x="9" y="30"/>
                </a:cxn>
                <a:cxn ang="0">
                  <a:pos x="1" y="52"/>
                </a:cxn>
                <a:cxn ang="0">
                  <a:pos x="4" y="75"/>
                </a:cxn>
                <a:cxn ang="0">
                  <a:pos x="18" y="92"/>
                </a:cxn>
                <a:cxn ang="0">
                  <a:pos x="40" y="103"/>
                </a:cxn>
                <a:cxn ang="0">
                  <a:pos x="61" y="110"/>
                </a:cxn>
                <a:cxn ang="0">
                  <a:pos x="61" y="0"/>
                </a:cxn>
                <a:cxn ang="0">
                  <a:pos x="9" y="30"/>
                </a:cxn>
                <a:cxn ang="0">
                  <a:pos x="9" y="30"/>
                </a:cxn>
                <a:cxn ang="0">
                  <a:pos x="9" y="30"/>
                </a:cxn>
              </a:cxnLst>
              <a:rect l="0" t="0" r="r" b="b"/>
              <a:pathLst>
                <a:path w="61" h="110">
                  <a:moveTo>
                    <a:pt x="9" y="30"/>
                  </a:moveTo>
                  <a:cubicBezTo>
                    <a:pt x="4" y="37"/>
                    <a:pt x="2" y="44"/>
                    <a:pt x="1" y="52"/>
                  </a:cubicBezTo>
                  <a:cubicBezTo>
                    <a:pt x="0" y="59"/>
                    <a:pt x="1" y="68"/>
                    <a:pt x="4" y="75"/>
                  </a:cubicBezTo>
                  <a:cubicBezTo>
                    <a:pt x="6" y="82"/>
                    <a:pt x="12" y="87"/>
                    <a:pt x="18" y="92"/>
                  </a:cubicBezTo>
                  <a:cubicBezTo>
                    <a:pt x="25" y="96"/>
                    <a:pt x="33" y="100"/>
                    <a:pt x="40" y="103"/>
                  </a:cubicBezTo>
                  <a:cubicBezTo>
                    <a:pt x="47" y="105"/>
                    <a:pt x="54" y="108"/>
                    <a:pt x="61" y="110"/>
                  </a:cubicBezTo>
                  <a:cubicBezTo>
                    <a:pt x="61" y="0"/>
                    <a:pt x="61" y="0"/>
                    <a:pt x="61" y="0"/>
                  </a:cubicBezTo>
                  <a:cubicBezTo>
                    <a:pt x="42" y="4"/>
                    <a:pt x="21" y="13"/>
                    <a:pt x="9" y="30"/>
                  </a:cubicBezTo>
                  <a:close/>
                  <a:moveTo>
                    <a:pt x="9" y="30"/>
                  </a:moveTo>
                  <a:cubicBezTo>
                    <a:pt x="9" y="30"/>
                    <a:pt x="9" y="30"/>
                    <a:pt x="9" y="30"/>
                  </a:cubicBezTo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9" name="Freeform 17"/>
            <p:cNvSpPr>
              <a:spLocks noEditPoints="1"/>
            </p:cNvSpPr>
            <p:nvPr/>
          </p:nvSpPr>
          <p:spPr bwMode="auto">
            <a:xfrm>
              <a:off x="2560736" y="3144958"/>
              <a:ext cx="1587" cy="317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cubicBezTo>
                    <a:pt x="0" y="0"/>
                    <a:pt x="0" y="1"/>
                    <a:pt x="0" y="1"/>
                  </a:cubicBezTo>
                  <a:cubicBezTo>
                    <a:pt x="0" y="1"/>
                    <a:pt x="0" y="0"/>
                    <a:pt x="0" y="0"/>
                  </a:cubicBezTo>
                  <a:close/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0" name="Freeform 18"/>
            <p:cNvSpPr>
              <a:spLocks noEditPoints="1"/>
            </p:cNvSpPr>
            <p:nvPr/>
          </p:nvSpPr>
          <p:spPr bwMode="auto">
            <a:xfrm>
              <a:off x="550885" y="1190671"/>
              <a:ext cx="3840309" cy="2892537"/>
            </a:xfrm>
            <a:custGeom>
              <a:avLst/>
              <a:gdLst/>
              <a:ahLst/>
              <a:cxnLst>
                <a:cxn ang="0">
                  <a:pos x="1000" y="335"/>
                </a:cxn>
                <a:cxn ang="0">
                  <a:pos x="1130" y="44"/>
                </a:cxn>
                <a:cxn ang="0">
                  <a:pos x="892" y="91"/>
                </a:cxn>
                <a:cxn ang="0">
                  <a:pos x="664" y="57"/>
                </a:cxn>
                <a:cxn ang="0">
                  <a:pos x="807" y="343"/>
                </a:cxn>
                <a:cxn ang="0">
                  <a:pos x="822" y="1394"/>
                </a:cxn>
                <a:cxn ang="0">
                  <a:pos x="1000" y="335"/>
                </a:cxn>
                <a:cxn ang="0">
                  <a:pos x="1098" y="988"/>
                </a:cxn>
                <a:cxn ang="0">
                  <a:pos x="1052" y="1069"/>
                </a:cxn>
                <a:cxn ang="0">
                  <a:pos x="957" y="1102"/>
                </a:cxn>
                <a:cxn ang="0">
                  <a:pos x="957" y="1138"/>
                </a:cxn>
                <a:cxn ang="0">
                  <a:pos x="946" y="1163"/>
                </a:cxn>
                <a:cxn ang="0">
                  <a:pos x="910" y="1168"/>
                </a:cxn>
                <a:cxn ang="0">
                  <a:pos x="890" y="1138"/>
                </a:cxn>
                <a:cxn ang="0">
                  <a:pos x="890" y="1099"/>
                </a:cxn>
                <a:cxn ang="0">
                  <a:pos x="873" y="1095"/>
                </a:cxn>
                <a:cxn ang="0">
                  <a:pos x="792" y="1045"/>
                </a:cxn>
                <a:cxn ang="0">
                  <a:pos x="766" y="1003"/>
                </a:cxn>
                <a:cxn ang="0">
                  <a:pos x="762" y="991"/>
                </a:cxn>
                <a:cxn ang="0">
                  <a:pos x="759" y="979"/>
                </a:cxn>
                <a:cxn ang="0">
                  <a:pos x="763" y="961"/>
                </a:cxn>
                <a:cxn ang="0">
                  <a:pos x="796" y="943"/>
                </a:cxn>
                <a:cxn ang="0">
                  <a:pos x="825" y="966"/>
                </a:cxn>
                <a:cxn ang="0">
                  <a:pos x="828" y="977"/>
                </a:cxn>
                <a:cxn ang="0">
                  <a:pos x="833" y="988"/>
                </a:cxn>
                <a:cxn ang="0">
                  <a:pos x="848" y="1007"/>
                </a:cxn>
                <a:cxn ang="0">
                  <a:pos x="890" y="1030"/>
                </a:cxn>
                <a:cxn ang="0">
                  <a:pos x="890" y="898"/>
                </a:cxn>
                <a:cxn ang="0">
                  <a:pos x="803" y="860"/>
                </a:cxn>
                <a:cxn ang="0">
                  <a:pos x="773" y="824"/>
                </a:cxn>
                <a:cxn ang="0">
                  <a:pos x="763" y="776"/>
                </a:cxn>
                <a:cxn ang="0">
                  <a:pos x="773" y="728"/>
                </a:cxn>
                <a:cxn ang="0">
                  <a:pos x="800" y="690"/>
                </a:cxn>
                <a:cxn ang="0">
                  <a:pos x="890" y="650"/>
                </a:cxn>
                <a:cxn ang="0">
                  <a:pos x="890" y="613"/>
                </a:cxn>
                <a:cxn ang="0">
                  <a:pos x="902" y="588"/>
                </a:cxn>
                <a:cxn ang="0">
                  <a:pos x="938" y="583"/>
                </a:cxn>
                <a:cxn ang="0">
                  <a:pos x="957" y="613"/>
                </a:cxn>
                <a:cxn ang="0">
                  <a:pos x="957" y="650"/>
                </a:cxn>
                <a:cxn ang="0">
                  <a:pos x="970" y="652"/>
                </a:cxn>
                <a:cxn ang="0">
                  <a:pos x="1058" y="694"/>
                </a:cxn>
                <a:cxn ang="0">
                  <a:pos x="1085" y="733"/>
                </a:cxn>
                <a:cxn ang="0">
                  <a:pos x="1089" y="745"/>
                </a:cxn>
                <a:cxn ang="0">
                  <a:pos x="1092" y="757"/>
                </a:cxn>
                <a:cxn ang="0">
                  <a:pos x="1090" y="776"/>
                </a:cxn>
                <a:cxn ang="0">
                  <a:pos x="1058" y="795"/>
                </a:cxn>
                <a:cxn ang="0">
                  <a:pos x="1028" y="774"/>
                </a:cxn>
                <a:cxn ang="0">
                  <a:pos x="1025" y="763"/>
                </a:cxn>
                <a:cxn ang="0">
                  <a:pos x="1019" y="752"/>
                </a:cxn>
                <a:cxn ang="0">
                  <a:pos x="1003" y="736"/>
                </a:cxn>
                <a:cxn ang="0">
                  <a:pos x="957" y="718"/>
                </a:cxn>
                <a:cxn ang="0">
                  <a:pos x="957" y="844"/>
                </a:cxn>
                <a:cxn ang="0">
                  <a:pos x="1015" y="861"/>
                </a:cxn>
                <a:cxn ang="0">
                  <a:pos x="1084" y="916"/>
                </a:cxn>
                <a:cxn ang="0">
                  <a:pos x="1084" y="916"/>
                </a:cxn>
                <a:cxn ang="0">
                  <a:pos x="1084" y="916"/>
                </a:cxn>
                <a:cxn ang="0">
                  <a:pos x="1098" y="988"/>
                </a:cxn>
                <a:cxn ang="0">
                  <a:pos x="1098" y="988"/>
                </a:cxn>
                <a:cxn ang="0">
                  <a:pos x="1098" y="988"/>
                </a:cxn>
              </a:cxnLst>
              <a:rect l="0" t="0" r="r" b="b"/>
              <a:pathLst>
                <a:path w="1960" h="1477">
                  <a:moveTo>
                    <a:pt x="1000" y="335"/>
                  </a:moveTo>
                  <a:cubicBezTo>
                    <a:pt x="1104" y="248"/>
                    <a:pt x="1173" y="53"/>
                    <a:pt x="1130" y="44"/>
                  </a:cubicBezTo>
                  <a:cubicBezTo>
                    <a:pt x="1074" y="33"/>
                    <a:pt x="951" y="83"/>
                    <a:pt x="892" y="91"/>
                  </a:cubicBezTo>
                  <a:cubicBezTo>
                    <a:pt x="808" y="102"/>
                    <a:pt x="716" y="0"/>
                    <a:pt x="664" y="57"/>
                  </a:cubicBezTo>
                  <a:cubicBezTo>
                    <a:pt x="623" y="103"/>
                    <a:pt x="694" y="270"/>
                    <a:pt x="807" y="343"/>
                  </a:cubicBezTo>
                  <a:cubicBezTo>
                    <a:pt x="472" y="507"/>
                    <a:pt x="0" y="1334"/>
                    <a:pt x="822" y="1394"/>
                  </a:cubicBezTo>
                  <a:cubicBezTo>
                    <a:pt x="1960" y="1477"/>
                    <a:pt x="1390" y="496"/>
                    <a:pt x="1000" y="335"/>
                  </a:cubicBezTo>
                  <a:close/>
                  <a:moveTo>
                    <a:pt x="1098" y="988"/>
                  </a:moveTo>
                  <a:cubicBezTo>
                    <a:pt x="1094" y="1020"/>
                    <a:pt x="1077" y="1049"/>
                    <a:pt x="1052" y="1069"/>
                  </a:cubicBezTo>
                  <a:cubicBezTo>
                    <a:pt x="1025" y="1090"/>
                    <a:pt x="991" y="1099"/>
                    <a:pt x="957" y="1102"/>
                  </a:cubicBezTo>
                  <a:cubicBezTo>
                    <a:pt x="957" y="1138"/>
                    <a:pt x="957" y="1138"/>
                    <a:pt x="957" y="1138"/>
                  </a:cubicBezTo>
                  <a:cubicBezTo>
                    <a:pt x="957" y="1147"/>
                    <a:pt x="953" y="1156"/>
                    <a:pt x="946" y="1163"/>
                  </a:cubicBezTo>
                  <a:cubicBezTo>
                    <a:pt x="936" y="1171"/>
                    <a:pt x="922" y="1174"/>
                    <a:pt x="910" y="1168"/>
                  </a:cubicBezTo>
                  <a:cubicBezTo>
                    <a:pt x="898" y="1163"/>
                    <a:pt x="890" y="1151"/>
                    <a:pt x="890" y="1138"/>
                  </a:cubicBezTo>
                  <a:cubicBezTo>
                    <a:pt x="890" y="1099"/>
                    <a:pt x="890" y="1099"/>
                    <a:pt x="890" y="1099"/>
                  </a:cubicBezTo>
                  <a:cubicBezTo>
                    <a:pt x="885" y="1098"/>
                    <a:pt x="879" y="1096"/>
                    <a:pt x="873" y="1095"/>
                  </a:cubicBezTo>
                  <a:cubicBezTo>
                    <a:pt x="842" y="1086"/>
                    <a:pt x="813" y="1069"/>
                    <a:pt x="792" y="1045"/>
                  </a:cubicBezTo>
                  <a:cubicBezTo>
                    <a:pt x="781" y="1032"/>
                    <a:pt x="772" y="1018"/>
                    <a:pt x="766" y="1003"/>
                  </a:cubicBezTo>
                  <a:cubicBezTo>
                    <a:pt x="765" y="999"/>
                    <a:pt x="763" y="995"/>
                    <a:pt x="762" y="991"/>
                  </a:cubicBezTo>
                  <a:cubicBezTo>
                    <a:pt x="761" y="987"/>
                    <a:pt x="760" y="983"/>
                    <a:pt x="759" y="979"/>
                  </a:cubicBezTo>
                  <a:cubicBezTo>
                    <a:pt x="759" y="973"/>
                    <a:pt x="760" y="966"/>
                    <a:pt x="763" y="961"/>
                  </a:cubicBezTo>
                  <a:cubicBezTo>
                    <a:pt x="769" y="949"/>
                    <a:pt x="782" y="942"/>
                    <a:pt x="796" y="943"/>
                  </a:cubicBezTo>
                  <a:cubicBezTo>
                    <a:pt x="809" y="944"/>
                    <a:pt x="820" y="953"/>
                    <a:pt x="825" y="966"/>
                  </a:cubicBezTo>
                  <a:cubicBezTo>
                    <a:pt x="826" y="969"/>
                    <a:pt x="827" y="973"/>
                    <a:pt x="828" y="977"/>
                  </a:cubicBezTo>
                  <a:cubicBezTo>
                    <a:pt x="830" y="981"/>
                    <a:pt x="831" y="985"/>
                    <a:pt x="833" y="988"/>
                  </a:cubicBezTo>
                  <a:cubicBezTo>
                    <a:pt x="837" y="995"/>
                    <a:pt x="842" y="1001"/>
                    <a:pt x="848" y="1007"/>
                  </a:cubicBezTo>
                  <a:cubicBezTo>
                    <a:pt x="860" y="1018"/>
                    <a:pt x="875" y="1026"/>
                    <a:pt x="890" y="1030"/>
                  </a:cubicBezTo>
                  <a:cubicBezTo>
                    <a:pt x="890" y="898"/>
                    <a:pt x="890" y="898"/>
                    <a:pt x="890" y="898"/>
                  </a:cubicBezTo>
                  <a:cubicBezTo>
                    <a:pt x="860" y="890"/>
                    <a:pt x="828" y="880"/>
                    <a:pt x="803" y="860"/>
                  </a:cubicBezTo>
                  <a:cubicBezTo>
                    <a:pt x="790" y="850"/>
                    <a:pt x="780" y="838"/>
                    <a:pt x="773" y="824"/>
                  </a:cubicBezTo>
                  <a:cubicBezTo>
                    <a:pt x="766" y="809"/>
                    <a:pt x="763" y="793"/>
                    <a:pt x="763" y="776"/>
                  </a:cubicBezTo>
                  <a:cubicBezTo>
                    <a:pt x="763" y="760"/>
                    <a:pt x="766" y="743"/>
                    <a:pt x="773" y="728"/>
                  </a:cubicBezTo>
                  <a:cubicBezTo>
                    <a:pt x="779" y="714"/>
                    <a:pt x="789" y="701"/>
                    <a:pt x="800" y="690"/>
                  </a:cubicBezTo>
                  <a:cubicBezTo>
                    <a:pt x="825" y="668"/>
                    <a:pt x="858" y="655"/>
                    <a:pt x="890" y="650"/>
                  </a:cubicBezTo>
                  <a:cubicBezTo>
                    <a:pt x="890" y="613"/>
                    <a:pt x="890" y="613"/>
                    <a:pt x="890" y="613"/>
                  </a:cubicBezTo>
                  <a:cubicBezTo>
                    <a:pt x="890" y="604"/>
                    <a:pt x="895" y="595"/>
                    <a:pt x="902" y="588"/>
                  </a:cubicBezTo>
                  <a:cubicBezTo>
                    <a:pt x="912" y="580"/>
                    <a:pt x="926" y="577"/>
                    <a:pt x="938" y="583"/>
                  </a:cubicBezTo>
                  <a:cubicBezTo>
                    <a:pt x="950" y="588"/>
                    <a:pt x="957" y="600"/>
                    <a:pt x="957" y="613"/>
                  </a:cubicBezTo>
                  <a:cubicBezTo>
                    <a:pt x="957" y="650"/>
                    <a:pt x="957" y="650"/>
                    <a:pt x="957" y="650"/>
                  </a:cubicBezTo>
                  <a:cubicBezTo>
                    <a:pt x="962" y="651"/>
                    <a:pt x="966" y="651"/>
                    <a:pt x="970" y="652"/>
                  </a:cubicBezTo>
                  <a:cubicBezTo>
                    <a:pt x="1003" y="658"/>
                    <a:pt x="1034" y="671"/>
                    <a:pt x="1058" y="694"/>
                  </a:cubicBezTo>
                  <a:cubicBezTo>
                    <a:pt x="1069" y="705"/>
                    <a:pt x="1078" y="719"/>
                    <a:pt x="1085" y="733"/>
                  </a:cubicBezTo>
                  <a:cubicBezTo>
                    <a:pt x="1086" y="737"/>
                    <a:pt x="1088" y="741"/>
                    <a:pt x="1089" y="745"/>
                  </a:cubicBezTo>
                  <a:cubicBezTo>
                    <a:pt x="1091" y="749"/>
                    <a:pt x="1092" y="753"/>
                    <a:pt x="1092" y="757"/>
                  </a:cubicBezTo>
                  <a:cubicBezTo>
                    <a:pt x="1093" y="763"/>
                    <a:pt x="1092" y="770"/>
                    <a:pt x="1090" y="776"/>
                  </a:cubicBezTo>
                  <a:cubicBezTo>
                    <a:pt x="1084" y="788"/>
                    <a:pt x="1071" y="796"/>
                    <a:pt x="1058" y="795"/>
                  </a:cubicBezTo>
                  <a:cubicBezTo>
                    <a:pt x="1045" y="795"/>
                    <a:pt x="1033" y="786"/>
                    <a:pt x="1028" y="774"/>
                  </a:cubicBezTo>
                  <a:cubicBezTo>
                    <a:pt x="1027" y="770"/>
                    <a:pt x="1026" y="766"/>
                    <a:pt x="1025" y="763"/>
                  </a:cubicBezTo>
                  <a:cubicBezTo>
                    <a:pt x="1023" y="759"/>
                    <a:pt x="1021" y="756"/>
                    <a:pt x="1019" y="752"/>
                  </a:cubicBezTo>
                  <a:cubicBezTo>
                    <a:pt x="1015" y="746"/>
                    <a:pt x="1010" y="740"/>
                    <a:pt x="1003" y="736"/>
                  </a:cubicBezTo>
                  <a:cubicBezTo>
                    <a:pt x="990" y="726"/>
                    <a:pt x="974" y="721"/>
                    <a:pt x="957" y="718"/>
                  </a:cubicBezTo>
                  <a:cubicBezTo>
                    <a:pt x="957" y="844"/>
                    <a:pt x="957" y="844"/>
                    <a:pt x="957" y="844"/>
                  </a:cubicBezTo>
                  <a:cubicBezTo>
                    <a:pt x="977" y="849"/>
                    <a:pt x="996" y="854"/>
                    <a:pt x="1015" y="861"/>
                  </a:cubicBezTo>
                  <a:cubicBezTo>
                    <a:pt x="1043" y="872"/>
                    <a:pt x="1069" y="889"/>
                    <a:pt x="1084" y="916"/>
                  </a:cubicBezTo>
                  <a:cubicBezTo>
                    <a:pt x="1082" y="912"/>
                    <a:pt x="1080" y="908"/>
                    <a:pt x="1084" y="916"/>
                  </a:cubicBezTo>
                  <a:cubicBezTo>
                    <a:pt x="1089" y="924"/>
                    <a:pt x="1087" y="920"/>
                    <a:pt x="1084" y="916"/>
                  </a:cubicBezTo>
                  <a:cubicBezTo>
                    <a:pt x="1097" y="938"/>
                    <a:pt x="1101" y="963"/>
                    <a:pt x="1098" y="988"/>
                  </a:cubicBezTo>
                  <a:close/>
                  <a:moveTo>
                    <a:pt x="1098" y="988"/>
                  </a:moveTo>
                  <a:cubicBezTo>
                    <a:pt x="1098" y="988"/>
                    <a:pt x="1098" y="988"/>
                    <a:pt x="1098" y="988"/>
                  </a:cubicBezTo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1" name="Freeform 19"/>
            <p:cNvSpPr>
              <a:spLocks noEditPoints="1"/>
            </p:cNvSpPr>
            <p:nvPr/>
          </p:nvSpPr>
          <p:spPr bwMode="auto">
            <a:xfrm>
              <a:off x="2559051" y="3149601"/>
              <a:ext cx="1587" cy="158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cubicBezTo>
                    <a:pt x="0" y="0"/>
                    <a:pt x="0" y="1"/>
                    <a:pt x="0" y="1"/>
                  </a:cubicBezTo>
                  <a:cubicBezTo>
                    <a:pt x="0" y="1"/>
                    <a:pt x="0" y="0"/>
                    <a:pt x="0" y="0"/>
                  </a:cubicBezTo>
                  <a:close/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</p:grpSp>
      <p:sp>
        <p:nvSpPr>
          <p:cNvPr id="18" name="圆角矩形 94"/>
          <p:cNvSpPr/>
          <p:nvPr/>
        </p:nvSpPr>
        <p:spPr>
          <a:xfrm>
            <a:off x="4472255" y="2180799"/>
            <a:ext cx="649514" cy="649514"/>
          </a:xfrm>
          <a:prstGeom prst="roundRect">
            <a:avLst/>
          </a:prstGeom>
          <a:solidFill>
            <a:srgbClr val="FFFFFF"/>
          </a:solidFill>
        </p:spPr>
        <p:txBody>
          <a:bodyPr wrap="none" rtlCol="0" anchor="ctr">
            <a:spAutoFit/>
          </a:bodyPr>
          <a:lstStyle/>
          <a:p>
            <a:pPr algn="ctr">
              <a:spcBef>
                <a:spcPct val="0"/>
              </a:spcBef>
            </a:pPr>
            <a:endParaRPr lang="zh-CN" altLang="en-US" sz="2000">
              <a:solidFill>
                <a:srgbClr val="222B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pSp>
        <p:nvGrpSpPr>
          <p:cNvPr id="19" name="Group 12"/>
          <p:cNvGrpSpPr>
            <a:grpSpLocks noChangeAspect="1"/>
          </p:cNvGrpSpPr>
          <p:nvPr/>
        </p:nvGrpSpPr>
        <p:grpSpPr bwMode="auto">
          <a:xfrm>
            <a:off x="4652168" y="2360048"/>
            <a:ext cx="320826" cy="291016"/>
            <a:chOff x="2535" y="1120"/>
            <a:chExt cx="635" cy="576"/>
          </a:xfrm>
          <a:solidFill>
            <a:schemeClr val="accent1">
              <a:lumMod val="75000"/>
            </a:schemeClr>
          </a:solidFill>
        </p:grpSpPr>
        <p:sp>
          <p:nvSpPr>
            <p:cNvPr id="20" name="Freeform 13"/>
            <p:cNvSpPr/>
            <p:nvPr/>
          </p:nvSpPr>
          <p:spPr bwMode="auto">
            <a:xfrm>
              <a:off x="2535" y="1626"/>
              <a:ext cx="635" cy="70"/>
            </a:xfrm>
            <a:custGeom>
              <a:avLst/>
              <a:gdLst>
                <a:gd name="T0" fmla="*/ 136 w 136"/>
                <a:gd name="T1" fmla="*/ 7 h 15"/>
                <a:gd name="T2" fmla="*/ 128 w 136"/>
                <a:gd name="T3" fmla="*/ 15 h 15"/>
                <a:gd name="T4" fmla="*/ 8 w 136"/>
                <a:gd name="T5" fmla="*/ 15 h 15"/>
                <a:gd name="T6" fmla="*/ 0 w 136"/>
                <a:gd name="T7" fmla="*/ 7 h 15"/>
                <a:gd name="T8" fmla="*/ 0 w 136"/>
                <a:gd name="T9" fmla="*/ 7 h 15"/>
                <a:gd name="T10" fmla="*/ 8 w 136"/>
                <a:gd name="T11" fmla="*/ 0 h 15"/>
                <a:gd name="T12" fmla="*/ 128 w 136"/>
                <a:gd name="T13" fmla="*/ 0 h 15"/>
                <a:gd name="T14" fmla="*/ 136 w 136"/>
                <a:gd name="T15" fmla="*/ 7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6" h="15">
                  <a:moveTo>
                    <a:pt x="136" y="7"/>
                  </a:moveTo>
                  <a:cubicBezTo>
                    <a:pt x="136" y="12"/>
                    <a:pt x="133" y="15"/>
                    <a:pt x="12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8" y="0"/>
                  </a:cubicBezTo>
                  <a:cubicBezTo>
                    <a:pt x="128" y="0"/>
                    <a:pt x="128" y="0"/>
                    <a:pt x="128" y="0"/>
                  </a:cubicBezTo>
                  <a:cubicBezTo>
                    <a:pt x="133" y="0"/>
                    <a:pt x="136" y="3"/>
                    <a:pt x="136" y="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2614" y="1369"/>
              <a:ext cx="75" cy="220"/>
            </a:xfrm>
            <a:custGeom>
              <a:avLst/>
              <a:gdLst>
                <a:gd name="T0" fmla="*/ 8 w 16"/>
                <a:gd name="T1" fmla="*/ 47 h 47"/>
                <a:gd name="T2" fmla="*/ 0 w 16"/>
                <a:gd name="T3" fmla="*/ 39 h 47"/>
                <a:gd name="T4" fmla="*/ 0 w 16"/>
                <a:gd name="T5" fmla="*/ 8 h 47"/>
                <a:gd name="T6" fmla="*/ 8 w 16"/>
                <a:gd name="T7" fmla="*/ 0 h 47"/>
                <a:gd name="T8" fmla="*/ 8 w 16"/>
                <a:gd name="T9" fmla="*/ 0 h 47"/>
                <a:gd name="T10" fmla="*/ 16 w 16"/>
                <a:gd name="T11" fmla="*/ 8 h 47"/>
                <a:gd name="T12" fmla="*/ 16 w 16"/>
                <a:gd name="T13" fmla="*/ 39 h 47"/>
                <a:gd name="T14" fmla="*/ 8 w 16"/>
                <a:gd name="T15" fmla="*/ 47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6" h="47">
                  <a:moveTo>
                    <a:pt x="8" y="47"/>
                  </a:moveTo>
                  <a:cubicBezTo>
                    <a:pt x="4" y="47"/>
                    <a:pt x="0" y="44"/>
                    <a:pt x="0" y="39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4"/>
                    <a:pt x="4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12" y="0"/>
                    <a:pt x="16" y="4"/>
                    <a:pt x="16" y="8"/>
                  </a:cubicBezTo>
                  <a:cubicBezTo>
                    <a:pt x="16" y="39"/>
                    <a:pt x="16" y="39"/>
                    <a:pt x="16" y="39"/>
                  </a:cubicBezTo>
                  <a:cubicBezTo>
                    <a:pt x="16" y="44"/>
                    <a:pt x="12" y="47"/>
                    <a:pt x="8" y="4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2" name="Freeform 15"/>
            <p:cNvSpPr/>
            <p:nvPr/>
          </p:nvSpPr>
          <p:spPr bwMode="auto">
            <a:xfrm>
              <a:off x="2750" y="1369"/>
              <a:ext cx="70" cy="220"/>
            </a:xfrm>
            <a:custGeom>
              <a:avLst/>
              <a:gdLst>
                <a:gd name="T0" fmla="*/ 8 w 15"/>
                <a:gd name="T1" fmla="*/ 47 h 47"/>
                <a:gd name="T2" fmla="*/ 0 w 15"/>
                <a:gd name="T3" fmla="*/ 39 h 47"/>
                <a:gd name="T4" fmla="*/ 0 w 15"/>
                <a:gd name="T5" fmla="*/ 8 h 47"/>
                <a:gd name="T6" fmla="*/ 8 w 15"/>
                <a:gd name="T7" fmla="*/ 0 h 47"/>
                <a:gd name="T8" fmla="*/ 8 w 15"/>
                <a:gd name="T9" fmla="*/ 0 h 47"/>
                <a:gd name="T10" fmla="*/ 15 w 15"/>
                <a:gd name="T11" fmla="*/ 8 h 47"/>
                <a:gd name="T12" fmla="*/ 15 w 15"/>
                <a:gd name="T13" fmla="*/ 39 h 47"/>
                <a:gd name="T14" fmla="*/ 8 w 15"/>
                <a:gd name="T15" fmla="*/ 47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" h="47">
                  <a:moveTo>
                    <a:pt x="8" y="47"/>
                  </a:moveTo>
                  <a:cubicBezTo>
                    <a:pt x="3" y="47"/>
                    <a:pt x="0" y="44"/>
                    <a:pt x="0" y="39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4"/>
                    <a:pt x="3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12" y="0"/>
                    <a:pt x="15" y="4"/>
                    <a:pt x="15" y="8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44"/>
                    <a:pt x="12" y="47"/>
                    <a:pt x="8" y="4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3" name="Freeform 16"/>
            <p:cNvSpPr/>
            <p:nvPr/>
          </p:nvSpPr>
          <p:spPr bwMode="auto">
            <a:xfrm>
              <a:off x="2885" y="1369"/>
              <a:ext cx="70" cy="220"/>
            </a:xfrm>
            <a:custGeom>
              <a:avLst/>
              <a:gdLst>
                <a:gd name="T0" fmla="*/ 7 w 15"/>
                <a:gd name="T1" fmla="*/ 47 h 47"/>
                <a:gd name="T2" fmla="*/ 0 w 15"/>
                <a:gd name="T3" fmla="*/ 39 h 47"/>
                <a:gd name="T4" fmla="*/ 0 w 15"/>
                <a:gd name="T5" fmla="*/ 8 h 47"/>
                <a:gd name="T6" fmla="*/ 7 w 15"/>
                <a:gd name="T7" fmla="*/ 0 h 47"/>
                <a:gd name="T8" fmla="*/ 7 w 15"/>
                <a:gd name="T9" fmla="*/ 0 h 47"/>
                <a:gd name="T10" fmla="*/ 15 w 15"/>
                <a:gd name="T11" fmla="*/ 8 h 47"/>
                <a:gd name="T12" fmla="*/ 15 w 15"/>
                <a:gd name="T13" fmla="*/ 39 h 47"/>
                <a:gd name="T14" fmla="*/ 7 w 15"/>
                <a:gd name="T15" fmla="*/ 47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" h="47">
                  <a:moveTo>
                    <a:pt x="7" y="47"/>
                  </a:moveTo>
                  <a:cubicBezTo>
                    <a:pt x="3" y="47"/>
                    <a:pt x="0" y="44"/>
                    <a:pt x="0" y="39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4"/>
                    <a:pt x="3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2" y="0"/>
                    <a:pt x="15" y="4"/>
                    <a:pt x="15" y="8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44"/>
                    <a:pt x="12" y="47"/>
                    <a:pt x="7" y="4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3016" y="1369"/>
              <a:ext cx="74" cy="220"/>
            </a:xfrm>
            <a:custGeom>
              <a:avLst/>
              <a:gdLst>
                <a:gd name="T0" fmla="*/ 8 w 16"/>
                <a:gd name="T1" fmla="*/ 47 h 47"/>
                <a:gd name="T2" fmla="*/ 0 w 16"/>
                <a:gd name="T3" fmla="*/ 39 h 47"/>
                <a:gd name="T4" fmla="*/ 0 w 16"/>
                <a:gd name="T5" fmla="*/ 8 h 47"/>
                <a:gd name="T6" fmla="*/ 8 w 16"/>
                <a:gd name="T7" fmla="*/ 0 h 47"/>
                <a:gd name="T8" fmla="*/ 8 w 16"/>
                <a:gd name="T9" fmla="*/ 0 h 47"/>
                <a:gd name="T10" fmla="*/ 16 w 16"/>
                <a:gd name="T11" fmla="*/ 8 h 47"/>
                <a:gd name="T12" fmla="*/ 16 w 16"/>
                <a:gd name="T13" fmla="*/ 39 h 47"/>
                <a:gd name="T14" fmla="*/ 8 w 16"/>
                <a:gd name="T15" fmla="*/ 47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6" h="47">
                  <a:moveTo>
                    <a:pt x="8" y="47"/>
                  </a:moveTo>
                  <a:cubicBezTo>
                    <a:pt x="4" y="47"/>
                    <a:pt x="0" y="44"/>
                    <a:pt x="0" y="39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4"/>
                    <a:pt x="4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12" y="0"/>
                    <a:pt x="16" y="4"/>
                    <a:pt x="16" y="8"/>
                  </a:cubicBezTo>
                  <a:cubicBezTo>
                    <a:pt x="16" y="39"/>
                    <a:pt x="16" y="39"/>
                    <a:pt x="16" y="39"/>
                  </a:cubicBezTo>
                  <a:cubicBezTo>
                    <a:pt x="16" y="44"/>
                    <a:pt x="12" y="47"/>
                    <a:pt x="8" y="4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5" name="Freeform 18"/>
            <p:cNvSpPr/>
            <p:nvPr/>
          </p:nvSpPr>
          <p:spPr bwMode="auto">
            <a:xfrm>
              <a:off x="2656" y="1120"/>
              <a:ext cx="392" cy="117"/>
            </a:xfrm>
            <a:custGeom>
              <a:avLst/>
              <a:gdLst>
                <a:gd name="T0" fmla="*/ 84 w 84"/>
                <a:gd name="T1" fmla="*/ 25 h 25"/>
                <a:gd name="T2" fmla="*/ 52 w 84"/>
                <a:gd name="T3" fmla="*/ 4 h 25"/>
                <a:gd name="T4" fmla="*/ 32 w 84"/>
                <a:gd name="T5" fmla="*/ 4 h 25"/>
                <a:gd name="T6" fmla="*/ 18 w 84"/>
                <a:gd name="T7" fmla="*/ 13 h 25"/>
                <a:gd name="T8" fmla="*/ 0 w 84"/>
                <a:gd name="T9" fmla="*/ 25 h 25"/>
                <a:gd name="T10" fmla="*/ 84 w 84"/>
                <a:gd name="T11" fmla="*/ 25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4" h="25">
                  <a:moveTo>
                    <a:pt x="84" y="25"/>
                  </a:moveTo>
                  <a:cubicBezTo>
                    <a:pt x="52" y="4"/>
                    <a:pt x="52" y="4"/>
                    <a:pt x="52" y="4"/>
                  </a:cubicBezTo>
                  <a:cubicBezTo>
                    <a:pt x="46" y="0"/>
                    <a:pt x="38" y="0"/>
                    <a:pt x="32" y="4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0" y="25"/>
                    <a:pt x="0" y="25"/>
                    <a:pt x="0" y="25"/>
                  </a:cubicBezTo>
                  <a:lnTo>
                    <a:pt x="84" y="2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2572" y="1275"/>
              <a:ext cx="560" cy="75"/>
            </a:xfrm>
            <a:custGeom>
              <a:avLst/>
              <a:gdLst>
                <a:gd name="T0" fmla="*/ 120 w 120"/>
                <a:gd name="T1" fmla="*/ 8 h 16"/>
                <a:gd name="T2" fmla="*/ 112 w 120"/>
                <a:gd name="T3" fmla="*/ 16 h 16"/>
                <a:gd name="T4" fmla="*/ 8 w 120"/>
                <a:gd name="T5" fmla="*/ 16 h 16"/>
                <a:gd name="T6" fmla="*/ 0 w 120"/>
                <a:gd name="T7" fmla="*/ 8 h 16"/>
                <a:gd name="T8" fmla="*/ 0 w 120"/>
                <a:gd name="T9" fmla="*/ 8 h 16"/>
                <a:gd name="T10" fmla="*/ 8 w 120"/>
                <a:gd name="T11" fmla="*/ 0 h 16"/>
                <a:gd name="T12" fmla="*/ 112 w 120"/>
                <a:gd name="T13" fmla="*/ 0 h 16"/>
                <a:gd name="T14" fmla="*/ 120 w 120"/>
                <a:gd name="T15" fmla="*/ 8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0" h="16">
                  <a:moveTo>
                    <a:pt x="120" y="8"/>
                  </a:moveTo>
                  <a:cubicBezTo>
                    <a:pt x="120" y="12"/>
                    <a:pt x="116" y="16"/>
                    <a:pt x="112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4" y="16"/>
                    <a:pt x="0" y="12"/>
                    <a:pt x="0" y="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3"/>
                    <a:pt x="4" y="0"/>
                    <a:pt x="8" y="0"/>
                  </a:cubicBezTo>
                  <a:cubicBezTo>
                    <a:pt x="112" y="0"/>
                    <a:pt x="112" y="0"/>
                    <a:pt x="112" y="0"/>
                  </a:cubicBezTo>
                  <a:cubicBezTo>
                    <a:pt x="116" y="0"/>
                    <a:pt x="120" y="3"/>
                    <a:pt x="120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27" name="矩形 26"/>
          <p:cNvSpPr/>
          <p:nvPr/>
        </p:nvSpPr>
        <p:spPr>
          <a:xfrm>
            <a:off x="5386705" y="2127885"/>
            <a:ext cx="5468620" cy="423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zh-CN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Linear Regression Models</a:t>
            </a:r>
            <a:endParaRPr lang="en-US" altLang="zh-CN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28" name="直接连接符 27"/>
          <p:cNvCxnSpPr/>
          <p:nvPr/>
        </p:nvCxnSpPr>
        <p:spPr>
          <a:xfrm>
            <a:off x="5488595" y="2551151"/>
            <a:ext cx="314325" cy="0"/>
          </a:xfrm>
          <a:prstGeom prst="line">
            <a:avLst/>
          </a:prstGeom>
          <a:ln w="28575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PA_矩形 75"/>
          <p:cNvSpPr/>
          <p:nvPr>
            <p:custDataLst>
              <p:tags r:id="rId2"/>
            </p:custDataLst>
          </p:nvPr>
        </p:nvSpPr>
        <p:spPr>
          <a:xfrm>
            <a:off x="5386547" y="2575973"/>
            <a:ext cx="5000401" cy="37084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altLang="zh-CN" sz="1400" dirty="0">
                <a:solidFill>
                  <a:schemeClr val="bg1"/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  <a:sym typeface="+mn-ea"/>
              </a:rPr>
              <a:t>Linear Regression, Lasso etc.</a:t>
            </a:r>
            <a:endParaRPr lang="en-US" altLang="zh-CN" sz="1400" dirty="0">
              <a:solidFill>
                <a:schemeClr val="bg1"/>
              </a:solidFill>
              <a:latin typeface="冬青黑体简体中文 W3" panose="020B0300000000000000" pitchFamily="34" charset="-122"/>
              <a:ea typeface="冬青黑体简体中文 W3" panose="020B0300000000000000" pitchFamily="34" charset="-122"/>
              <a:sym typeface="+mn-ea"/>
            </a:endParaRPr>
          </a:p>
        </p:txBody>
      </p:sp>
      <p:cxnSp>
        <p:nvCxnSpPr>
          <p:cNvPr id="31" name="直接连接符 30"/>
          <p:cNvCxnSpPr/>
          <p:nvPr/>
        </p:nvCxnSpPr>
        <p:spPr>
          <a:xfrm>
            <a:off x="5488595" y="3690394"/>
            <a:ext cx="314325" cy="0"/>
          </a:xfrm>
          <a:prstGeom prst="line">
            <a:avLst/>
          </a:prstGeom>
          <a:ln w="28575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PA_矩形 75"/>
          <p:cNvSpPr/>
          <p:nvPr>
            <p:custDataLst>
              <p:tags r:id="rId3"/>
            </p:custDataLst>
          </p:nvPr>
        </p:nvSpPr>
        <p:spPr>
          <a:xfrm>
            <a:off x="5386547" y="3715216"/>
            <a:ext cx="5000401" cy="65024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altLang="zh-CN" sz="1400" dirty="0">
                <a:solidFill>
                  <a:schemeClr val="bg1"/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  <a:sym typeface="+mn-ea"/>
              </a:rPr>
              <a:t>Support Vector Machine, k-Nearest Neighbors, Logistic Regression Regression etc.</a:t>
            </a:r>
            <a:endParaRPr lang="zh-CN" altLang="en-US" sz="1400">
              <a:solidFill>
                <a:srgbClr val="FFFFFF"/>
              </a:solidFill>
              <a:latin typeface="冬青黑体简体中文 W3" panose="020B0300000000000000" pitchFamily="34" charset="-122"/>
              <a:ea typeface="冬青黑体简体中文 W3" panose="020B0300000000000000" pitchFamily="34" charset="-122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746088" y="475991"/>
            <a:ext cx="148590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ML Models</a:t>
            </a:r>
            <a:endParaRPr lang="en-US" altLang="zh-CN" sz="20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289435" y="545974"/>
            <a:ext cx="340519" cy="260145"/>
          </a:xfrm>
          <a:prstGeom prst="rect">
            <a:avLst/>
          </a:prstGeom>
          <a:solidFill>
            <a:schemeClr val="accent1">
              <a:lumMod val="75000"/>
            </a:schemeClr>
          </a:solidFill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8" name="矩形 26"/>
          <p:cNvSpPr/>
          <p:nvPr/>
        </p:nvSpPr>
        <p:spPr>
          <a:xfrm>
            <a:off x="5386705" y="3255010"/>
            <a:ext cx="5468620" cy="423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zh-CN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Binary Classification Models</a:t>
            </a:r>
            <a:endParaRPr lang="en-US" altLang="zh-CN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图片 33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70" t="3433" r="1695" b="9987"/>
          <a:stretch>
            <a:fillRect/>
          </a:stretch>
        </p:blipFill>
        <p:spPr>
          <a:xfrm flipH="1">
            <a:off x="0" y="1319530"/>
            <a:ext cx="9099550" cy="5396230"/>
          </a:xfrm>
          <a:prstGeom prst="rect">
            <a:avLst/>
          </a:prstGeom>
        </p:spPr>
      </p:pic>
      <p:sp>
        <p:nvSpPr>
          <p:cNvPr id="26" name="文本框 25"/>
          <p:cNvSpPr txBox="1"/>
          <p:nvPr/>
        </p:nvSpPr>
        <p:spPr>
          <a:xfrm>
            <a:off x="746088" y="475991"/>
            <a:ext cx="148590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ML Models</a:t>
            </a:r>
            <a:endParaRPr lang="en-US" altLang="zh-CN" sz="20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289435" y="545974"/>
            <a:ext cx="340519" cy="260145"/>
          </a:xfrm>
          <a:prstGeom prst="rect">
            <a:avLst/>
          </a:prstGeom>
          <a:solidFill>
            <a:schemeClr val="accent1">
              <a:lumMod val="75000"/>
            </a:schemeClr>
          </a:solidFill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8" name="组合 7"/>
          <p:cNvGrpSpPr/>
          <p:nvPr/>
        </p:nvGrpSpPr>
        <p:grpSpPr>
          <a:xfrm>
            <a:off x="6321806" y="4038128"/>
            <a:ext cx="5874619" cy="3019598"/>
            <a:chOff x="6321806" y="2267113"/>
            <a:chExt cx="5874619" cy="3019598"/>
          </a:xfrm>
          <a:effectLst>
            <a:outerShdw blurRad="63500" sx="102000" sy="102000" algn="ctr" rotWithShape="0">
              <a:prstClr val="black">
                <a:alpha val="14000"/>
              </a:prstClr>
            </a:outerShdw>
          </a:effectLst>
        </p:grpSpPr>
        <p:sp>
          <p:nvSpPr>
            <p:cNvPr id="28" name="PA_矩形 9"/>
            <p:cNvSpPr/>
            <p:nvPr>
              <p:custDataLst>
                <p:tags r:id="rId2"/>
              </p:custDataLst>
            </p:nvPr>
          </p:nvSpPr>
          <p:spPr>
            <a:xfrm>
              <a:off x="6321806" y="2267113"/>
              <a:ext cx="5874619" cy="2677746"/>
            </a:xfrm>
            <a:prstGeom prst="rect">
              <a:avLst/>
            </a:prstGeom>
            <a:solidFill>
              <a:srgbClr val="112B37">
                <a:alpha val="7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PA_矩形 9"/>
            <p:cNvSpPr/>
            <p:nvPr>
              <p:custDataLst>
                <p:tags r:id="rId3"/>
              </p:custDataLst>
            </p:nvPr>
          </p:nvSpPr>
          <p:spPr>
            <a:xfrm>
              <a:off x="9394317" y="4944859"/>
              <a:ext cx="1054177" cy="318196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PA_文本框 32"/>
            <p:cNvSpPr txBox="1"/>
            <p:nvPr>
              <p:custDataLst>
                <p:tags r:id="rId4"/>
              </p:custDataLst>
            </p:nvPr>
          </p:nvSpPr>
          <p:spPr>
            <a:xfrm>
              <a:off x="9457627" y="4918411"/>
              <a:ext cx="927303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>
                  <a:solidFill>
                    <a:srgbClr val="FFFFFF"/>
                  </a:solidFill>
                  <a:latin typeface="Century Gothic" panose="020B0502020202020204" pitchFamily="34" charset="0"/>
                  <a:ea typeface="冬青黑体简体中文 W3" panose="020B0300000000000000" pitchFamily="34" charset="-122"/>
                </a:rPr>
                <a:t>WPS</a:t>
              </a:r>
              <a:endParaRPr lang="en-US">
                <a:solidFill>
                  <a:srgbClr val="FFFFFF"/>
                </a:solidFill>
                <a:latin typeface="Century Gothic" panose="020B0502020202020204" pitchFamily="34" charset="0"/>
                <a:ea typeface="冬青黑体简体中文 W3" panose="020B0300000000000000" pitchFamily="34" charset="-122"/>
              </a:endParaRPr>
            </a:p>
          </p:txBody>
        </p:sp>
        <p:sp>
          <p:nvSpPr>
            <p:cNvPr id="35" name="PA_矩形 9"/>
            <p:cNvSpPr/>
            <p:nvPr>
              <p:custDataLst>
                <p:tags r:id="rId5"/>
              </p:custDataLst>
            </p:nvPr>
          </p:nvSpPr>
          <p:spPr>
            <a:xfrm>
              <a:off x="6321806" y="2270256"/>
              <a:ext cx="5870194" cy="260179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PA_文本框 32"/>
            <p:cNvSpPr txBox="1"/>
            <p:nvPr>
              <p:custDataLst>
                <p:tags r:id="rId6"/>
              </p:custDataLst>
            </p:nvPr>
          </p:nvSpPr>
          <p:spPr>
            <a:xfrm>
              <a:off x="6983476" y="2793528"/>
              <a:ext cx="4024630" cy="5835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b="1">
                  <a:solidFill>
                    <a:srgbClr val="FFFFFF"/>
                  </a:solidFill>
                  <a:latin typeface="Century Gothic" panose="020B0502020202020204" pitchFamily="34" charset="0"/>
                  <a:ea typeface="冬青黑体简体中文 W3" panose="020B0300000000000000" pitchFamily="34" charset="-122"/>
                </a:rPr>
                <a:t>Model Evaluation</a:t>
              </a:r>
              <a:endParaRPr lang="en-US" altLang="zh-CN" sz="3200" b="1">
                <a:solidFill>
                  <a:srgbClr val="FFFFFF"/>
                </a:solidFill>
                <a:latin typeface="Century Gothic" panose="020B0502020202020204" pitchFamily="34" charset="0"/>
                <a:ea typeface="冬青黑体简体中文 W3" panose="020B0300000000000000" pitchFamily="34" charset="-122"/>
              </a:endParaRPr>
            </a:p>
          </p:txBody>
        </p:sp>
        <p:sp>
          <p:nvSpPr>
            <p:cNvPr id="37" name="PA_矩形 220"/>
            <p:cNvSpPr/>
            <p:nvPr>
              <p:custDataLst>
                <p:tags r:id="rId7"/>
              </p:custDataLst>
            </p:nvPr>
          </p:nvSpPr>
          <p:spPr>
            <a:xfrm>
              <a:off x="7002255" y="3436594"/>
              <a:ext cx="4896902" cy="45085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30000"/>
                </a:lnSpc>
              </a:pPr>
              <a:r>
                <a:rPr lang="en-US" altLang="zh-CN" dirty="0">
                  <a:solidFill>
                    <a:schemeClr val="bg1"/>
                  </a:solidFill>
                  <a:latin typeface="冬青黑体简体中文 W3" panose="020B0300000000000000" pitchFamily="34" charset="-122"/>
                  <a:ea typeface="冬青黑体简体中文 W3" panose="020B0300000000000000" pitchFamily="34" charset="-122"/>
                  <a:sym typeface="+mn-ea"/>
                </a:rPr>
                <a:t>ROC  Curves for various models</a:t>
              </a:r>
              <a:endParaRPr lang="zh-CN" altLang="en-US">
                <a:solidFill>
                  <a:srgbClr val="FFFFFF"/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</a:endParaRPr>
            </a:p>
          </p:txBody>
        </p:sp>
      </p:grpSp>
      <p:pic>
        <p:nvPicPr>
          <p:cNvPr id="2" name="Picture 1" descr="Screenshot 2024-12-14 at 8.58.47 PM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9230" y="1417320"/>
            <a:ext cx="3873500" cy="2361565"/>
          </a:xfrm>
          <a:prstGeom prst="rect">
            <a:avLst/>
          </a:prstGeom>
        </p:spPr>
      </p:pic>
      <p:pic>
        <p:nvPicPr>
          <p:cNvPr id="3" name="Picture 2" descr="Screenshot 2024-12-14 at 8.59.53 PM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12360" y="1416685"/>
            <a:ext cx="3872865" cy="2361565"/>
          </a:xfrm>
          <a:prstGeom prst="rect">
            <a:avLst/>
          </a:prstGeom>
        </p:spPr>
      </p:pic>
      <p:pic>
        <p:nvPicPr>
          <p:cNvPr id="4" name="Picture 3" descr="Screenshot 2024-12-14 at 9.03.03 PM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9230" y="4157345"/>
            <a:ext cx="3873500" cy="236029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14034"/>
          <p:cNvPicPr>
            <a:picLocks noChangeAspect="1"/>
          </p:cNvPicPr>
          <p:nvPr/>
        </p:nvPicPr>
        <p:blipFill>
          <a:blip r:embed="rId1"/>
          <a:srcRect t="816"/>
          <a:stretch>
            <a:fillRect/>
          </a:stretch>
        </p:blipFill>
        <p:spPr>
          <a:xfrm>
            <a:off x="0" y="-11430"/>
            <a:ext cx="12192000" cy="6869430"/>
          </a:xfrm>
          <a:prstGeom prst="rect">
            <a:avLst/>
          </a:prstGeom>
        </p:spPr>
      </p:pic>
      <p:sp>
        <p:nvSpPr>
          <p:cNvPr id="25" name="任意多边形 107"/>
          <p:cNvSpPr/>
          <p:nvPr/>
        </p:nvSpPr>
        <p:spPr>
          <a:xfrm>
            <a:off x="0" y="0"/>
            <a:ext cx="9769475" cy="6858000"/>
          </a:xfrm>
          <a:custGeom>
            <a:avLst/>
            <a:gdLst>
              <a:gd name="connsiteX0" fmla="*/ 0 w 7899400"/>
              <a:gd name="connsiteY0" fmla="*/ 0 h 6858000"/>
              <a:gd name="connsiteX1" fmla="*/ 3409947 w 7899400"/>
              <a:gd name="connsiteY1" fmla="*/ 0 h 6858000"/>
              <a:gd name="connsiteX2" fmla="*/ 7899400 w 7899400"/>
              <a:gd name="connsiteY2" fmla="*/ 6858000 h 6858000"/>
              <a:gd name="connsiteX3" fmla="*/ 0 w 7899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899400" h="6858000">
                <a:moveTo>
                  <a:pt x="0" y="0"/>
                </a:moveTo>
                <a:lnTo>
                  <a:pt x="3409947" y="0"/>
                </a:lnTo>
                <a:lnTo>
                  <a:pt x="7899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>
              <a:lumMod val="75000"/>
              <a:alpha val="8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1E3A93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72" name="文本框 71"/>
          <p:cNvSpPr txBox="1"/>
          <p:nvPr/>
        </p:nvSpPr>
        <p:spPr>
          <a:xfrm>
            <a:off x="582930" y="2719705"/>
            <a:ext cx="6072505" cy="2122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6600" b="1">
                <a:solidFill>
                  <a:schemeClr val="bg1"/>
                </a:solidFill>
              </a:rPr>
              <a:t>Thank You</a:t>
            </a:r>
            <a:endParaRPr lang="en-US" altLang="zh-CN" sz="6600" b="1">
              <a:solidFill>
                <a:schemeClr val="bg1"/>
              </a:solidFill>
            </a:endParaRPr>
          </a:p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6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82" name="平行四边形 81"/>
          <p:cNvSpPr/>
          <p:nvPr/>
        </p:nvSpPr>
        <p:spPr>
          <a:xfrm flipH="1">
            <a:off x="6654800" y="2992755"/>
            <a:ext cx="3364230" cy="3865245"/>
          </a:xfrm>
          <a:prstGeom prst="parallelogram">
            <a:avLst>
              <a:gd name="adj" fmla="val 91551"/>
            </a:avLst>
          </a:prstGeom>
          <a:solidFill>
            <a:schemeClr val="bg1">
              <a:alpha val="7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83" name="PA_文本框 10"/>
          <p:cNvSpPr txBox="1"/>
          <p:nvPr>
            <p:custDataLst>
              <p:tags r:id="rId2"/>
            </p:custDataLst>
          </p:nvPr>
        </p:nvSpPr>
        <p:spPr>
          <a:xfrm>
            <a:off x="180340" y="4269740"/>
            <a:ext cx="6173470" cy="583565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chemeClr val="bg1"/>
                </a:solidFill>
                <a:latin typeface="Century Gothic" panose="020B0502020202020204" pitchFamily="34" charset="0"/>
                <a:ea typeface="Microsoft YaHei" panose="020B0503020204020204" pitchFamily="34" charset="-122"/>
              </a:rPr>
              <a:t>     Date: 14-12-2024</a:t>
            </a:r>
            <a:endParaRPr lang="en-US" altLang="zh-CN" sz="3200" dirty="0">
              <a:solidFill>
                <a:schemeClr val="bg1"/>
              </a:solidFill>
              <a:latin typeface="Century Gothic" panose="020B0502020202020204" pitchFamily="34" charset="0"/>
              <a:ea typeface="Microsoft YaHei" panose="020B0503020204020204" pitchFamily="34" charset="-122"/>
            </a:endParaRPr>
          </a:p>
        </p:txBody>
      </p:sp>
      <p:cxnSp>
        <p:nvCxnSpPr>
          <p:cNvPr id="17" name="直接连接符 16"/>
          <p:cNvCxnSpPr/>
          <p:nvPr/>
        </p:nvCxnSpPr>
        <p:spPr>
          <a:xfrm>
            <a:off x="774700" y="6223000"/>
            <a:ext cx="508000" cy="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ags/tag1.xml><?xml version="1.0" encoding="utf-8"?>
<p:tagLst xmlns:p="http://schemas.openxmlformats.org/presentationml/2006/main">
  <p:tag name="PA" val="v3.0.1"/>
</p:tagLst>
</file>

<file path=ppt/tags/tag2.xml><?xml version="1.0" encoding="utf-8"?>
<p:tagLst xmlns:p="http://schemas.openxmlformats.org/presentationml/2006/main">
  <p:tag name="PA" val="v3.0.1"/>
</p:tagLst>
</file>

<file path=ppt/tags/tag3.xml><?xml version="1.0" encoding="utf-8"?>
<p:tagLst xmlns:p="http://schemas.openxmlformats.org/presentationml/2006/main">
  <p:tag name="PA" val="v3.0.0"/>
</p:tagLst>
</file>

<file path=ppt/tags/tag4.xml><?xml version="1.0" encoding="utf-8"?>
<p:tagLst xmlns:p="http://schemas.openxmlformats.org/presentationml/2006/main">
  <p:tag name="PA" val="v3.0.0"/>
</p:tagLst>
</file>

<file path=ppt/tags/tag5.xml><?xml version="1.0" encoding="utf-8"?>
<p:tagLst xmlns:p="http://schemas.openxmlformats.org/presentationml/2006/main">
  <p:tag name="PA" val="v3.0.0"/>
</p:tagLst>
</file>

<file path=ppt/tags/tag6.xml><?xml version="1.0" encoding="utf-8"?>
<p:tagLst xmlns:p="http://schemas.openxmlformats.org/presentationml/2006/main">
  <p:tag name="PA" val="v3.0.0"/>
</p:tagLst>
</file>

<file path=ppt/tags/tag7.xml><?xml version="1.0" encoding="utf-8"?>
<p:tagLst xmlns:p="http://schemas.openxmlformats.org/presentationml/2006/main">
  <p:tag name="PA" val="v3.0.0"/>
</p:tagLst>
</file>

<file path=ppt/tags/tag8.xml><?xml version="1.0" encoding="utf-8"?>
<p:tagLst xmlns:p="http://schemas.openxmlformats.org/presentationml/2006/main">
  <p:tag name="PA" val="v3.0.0"/>
</p:tagLst>
</file>

<file path=ppt/tags/tag9.xml><?xml version="1.0" encoding="utf-8"?>
<p:tagLst xmlns:p="http://schemas.openxmlformats.org/presentationml/2006/main">
  <p:tag name="PA" val="v3.0.0"/>
</p:tagLst>
</file>

<file path=ppt/tags/tag10.xml><?xml version="1.0" encoding="utf-8"?>
<p:tagLst xmlns:p="http://schemas.openxmlformats.org/presentationml/2006/main">
  <p:tag name="PA" val="v3.0.0"/>
</p:tagLst>
</file>

<file path=ppt/tags/tag11.xml><?xml version="1.0" encoding="utf-8"?>
<p:tagLst xmlns:p="http://schemas.openxmlformats.org/presentationml/2006/main">
  <p:tag name="PA" val="v3.0.0"/>
</p:tagLst>
</file>

<file path=ppt/tags/tag12.xml><?xml version="1.0" encoding="utf-8"?>
<p:tagLst xmlns:p="http://schemas.openxmlformats.org/presentationml/2006/main">
  <p:tag name="PA" val="v3.0.0"/>
</p:tagLst>
</file>

<file path=ppt/tags/tag13.xml><?xml version="1.0" encoding="utf-8"?>
<p:tagLst xmlns:p="http://schemas.openxmlformats.org/presentationml/2006/main">
  <p:tag name="PA" val="v3.0.0"/>
</p:tagLst>
</file>

<file path=ppt/tags/tag14.xml><?xml version="1.0" encoding="utf-8"?>
<p:tagLst xmlns:p="http://schemas.openxmlformats.org/presentationml/2006/main">
  <p:tag name="PA" val="v3.0.1"/>
</p:tagLst>
</file>

<file path=ppt/theme/theme1.xml><?xml version="1.0" encoding="utf-8"?>
<a:theme xmlns:a="http://schemas.openxmlformats.org/drawingml/2006/main" name="Business Cooperate">
  <a:themeElements>
    <a:clrScheme name="Business Cooperat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usiness Cooperate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704020202020204" pitchFamily="34" charset="0"/>
            <a:ea typeface="SimSun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704020202020204" pitchFamily="34" charset="0"/>
            <a:ea typeface="SimSun" pitchFamily="2" charset="-122"/>
          </a:defRPr>
        </a:defPPr>
      </a:lstStyle>
    </a:lnDef>
  </a:objectDefaults>
  <a:extraClrSchemeLst>
    <a:extraClrScheme>
      <a:clrScheme name="Business Cooper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2364</Words>
  <Application>WPS Writer</Application>
  <PresentationFormat>宽屏</PresentationFormat>
  <Paragraphs>145</Paragraphs>
  <Slides>12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41" baseType="lpstr">
      <vt:lpstr>Arial</vt:lpstr>
      <vt:lpstr>SimSun</vt:lpstr>
      <vt:lpstr>Wingdings</vt:lpstr>
      <vt:lpstr>等线</vt:lpstr>
      <vt:lpstr>Microsoft YaHei</vt:lpstr>
      <vt:lpstr>汉仪旗黑</vt:lpstr>
      <vt:lpstr>Century Gothic</vt:lpstr>
      <vt:lpstr>黑体</vt:lpstr>
      <vt:lpstr>黑体-简</vt:lpstr>
      <vt:lpstr>微软雅黑 Light</vt:lpstr>
      <vt:lpstr>Montserrat</vt:lpstr>
      <vt:lpstr>苹方-简</vt:lpstr>
      <vt:lpstr>方正兰亭粗黑简体</vt:lpstr>
      <vt:lpstr>冬青黑体简体中文 W3</vt:lpstr>
      <vt:lpstr>Gulim</vt:lpstr>
      <vt:lpstr>Apple SD Gothic Neo</vt:lpstr>
      <vt:lpstr>Arial Unicode MS</vt:lpstr>
      <vt:lpstr>等线 Light</vt:lpstr>
      <vt:lpstr>等线</vt:lpstr>
      <vt:lpstr>Calibri</vt:lpstr>
      <vt:lpstr>Helvetica Neue</vt:lpstr>
      <vt:lpstr>宋体-简</vt:lpstr>
      <vt:lpstr>Times New Roman Regular</vt:lpstr>
      <vt:lpstr>Times New Roman Bold</vt:lpstr>
      <vt:lpstr>SimSun</vt:lpstr>
      <vt:lpstr>Arial Bold</vt:lpstr>
      <vt:lpstr>Arial</vt:lpstr>
      <vt:lpstr>Hiragino Sans GB W6</vt:lpstr>
      <vt:lpstr>Business Cooperate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美仑设计</dc:creator>
  <cp:keywords>www.51pptmoban.com</cp:keywords>
  <cp:lastModifiedBy>AkarshSrivastava</cp:lastModifiedBy>
  <cp:revision>27</cp:revision>
  <dcterms:created xsi:type="dcterms:W3CDTF">2024-12-14T15:42:44Z</dcterms:created>
  <dcterms:modified xsi:type="dcterms:W3CDTF">2024-12-14T15:42:44Z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1033-6.10.2.8397</vt:lpwstr>
  </property>
  <property fmtid="{D5CDD505-2E9C-101B-9397-08002B2CF9AE}" pid="3" name="ICV">
    <vt:lpwstr>462C68A009F42A442F715D676FF4F991_41</vt:lpwstr>
  </property>
</Properties>
</file>